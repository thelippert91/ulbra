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8f4d3c7a75_0_6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8f4d3c7a7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8f4d3c7a75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8f4d3c7a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90330e3199_0_12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90330e319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90330e3199_0_5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90330e319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90330e3199_0_18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90330e319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90330e3199_0_24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90330e319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90330e3199_0_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90330e31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90330e3199_0_36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90330e319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8f4d3c7a75_0_1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8f4d3c7a7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90330e3199_0_51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90330e319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90330e3199_0_8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90330e319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90330e3199_0_72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90330e319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90330e3199_0_88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90330e319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90330e3199_0_93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90330e319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90330e3199_0_98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90330e319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90330e3199_0_62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90330e319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90330e3199_0_67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90330e319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827306"/>
            <a:ext cx="8520600" cy="22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804528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229028"/>
            <a:ext cx="8520600" cy="218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502472"/>
            <a:ext cx="8520600" cy="14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hyperlink" Target="https://medium.com/trainingcenter/a-arquitetura-de-von-neumann-121489873fd4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sites.google.com/ulbra.br/g000011gs001/" TargetMode="External"/><Relationship Id="rId4" Type="http://schemas.openxmlformats.org/officeDocument/2006/relationships/hyperlink" Target="https://prof.valiante.info/aulas/arquitetura-de-computador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67750" y="827306"/>
            <a:ext cx="8881800" cy="22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Plataformas Computacionais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Prof. MSc. Vinícius Magnus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@vinimagnus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/>
              <a:t>Arquitetura de Computadores</a:t>
            </a:r>
            <a:endParaRPr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de computadores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pt-BR" sz="2100"/>
              <a:t>Arquitetura de processadores</a:t>
            </a:r>
            <a:endParaRPr sz="21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pt-BR" sz="1700"/>
              <a:t>RISC X CISC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pt-BR" sz="1700"/>
              <a:t>Microcontroladores x Microprocessadores</a:t>
            </a:r>
            <a:endParaRPr sz="17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pt-BR" sz="2100"/>
              <a:t>Arquitetura de computadores</a:t>
            </a:r>
            <a:endParaRPr sz="21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pt-BR" sz="1700"/>
              <a:t>Von Neumam x Harvard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Componentes de uma arquitetura</a:t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1284550" y="1407728"/>
            <a:ext cx="1939200" cy="174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CPU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Processador</a:t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5927450" y="1407728"/>
            <a:ext cx="1939200" cy="174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Memória</a:t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3602400" y="3644028"/>
            <a:ext cx="1939200" cy="174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Dispositivos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 E/S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Processador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O processador é o cérebro do computador, sendo o componente responsável por efetuar os cálculos necessários para você realizar suas tarefas cotidianas. Não importa qual programa você utiliza no dia a dia, todos os dados são processados na CPU</a:t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2805625" y="3377200"/>
            <a:ext cx="3269100" cy="174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CPU: Processador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=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Unidade de Controle (UC) +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Unidade Lógica </a:t>
            </a:r>
            <a:r>
              <a:rPr lang="pt-BR"/>
              <a:t>Aritmética (ULA)</a:t>
            </a:r>
            <a:r>
              <a:rPr lang="pt-BR"/>
              <a:t> +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Registradores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Microprocessador x Microcontrolador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150" y="1280525"/>
            <a:ext cx="3383350" cy="338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4250" y="1280525"/>
            <a:ext cx="4188051" cy="338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Microcontrolador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 microcontrolador  é praticamente um computador em um chip, no chip do  microcontrolador </a:t>
            </a:r>
            <a:r>
              <a:rPr lang="pt-BR"/>
              <a:t>contém</a:t>
            </a:r>
            <a:r>
              <a:rPr lang="pt-BR"/>
              <a:t> todos os itens como processador, memória ROM, memória RAM,  periféricos de entrada / saída, Conversor Analógio/Digital,  etc. O microcontrolador  pode ser programado para diversas funções, mas faz apenas aquilo que está em seu programa, para executar outras funções ele tem que ser reprogramado. Exemplos: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pt-BR"/>
              <a:t>PIC</a:t>
            </a:r>
            <a:r>
              <a:rPr lang="pt-BR"/>
              <a:t> que são da família de microcontroladores fabricados pela Microchip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pt-BR"/>
              <a:t>Atmel AVR</a:t>
            </a:r>
            <a:r>
              <a:rPr lang="pt-BR"/>
              <a:t> que são da família de microcontroladores fabricados pela  Atmel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pt-BR"/>
              <a:t>Intel MCS</a:t>
            </a:r>
            <a:r>
              <a:rPr lang="pt-BR"/>
              <a:t> que são da família de microcontroladores fabricados pela Intel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Microprocessador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microprocessador, também chamado de processador, é basicamente um circuito integrado que realiza as funções de cálculo e tomada de decisão. Ele é um cérebro eletrônico em um chip, usado nos computadores, celulares, tablets e  todos os equipamentos eletrônicos que baseiam-se nele para executar suas funções.Exemplos: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Intel - diversas linhas de processadores;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AMD - </a:t>
            </a:r>
            <a:r>
              <a:rPr lang="pt-BR"/>
              <a:t>diversas linhas de processadores;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Snapdragon - linha de processadores da Qualcomm;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Exynos - linha de processadores da Samsung;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Ax (A14) - linha de processador da Apple.</a:t>
            </a:r>
            <a:endParaRPr/>
          </a:p>
        </p:txBody>
      </p:sp>
      <p:sp>
        <p:nvSpPr>
          <p:cNvPr id="97" name="Google Shape;97;p19"/>
          <p:cNvSpPr/>
          <p:nvPr/>
        </p:nvSpPr>
        <p:spPr>
          <a:xfrm>
            <a:off x="5887375" y="3139050"/>
            <a:ext cx="285900" cy="588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/>
          <p:nvPr/>
        </p:nvSpPr>
        <p:spPr>
          <a:xfrm>
            <a:off x="6542000" y="3854275"/>
            <a:ext cx="285900" cy="782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6308300" y="3281050"/>
            <a:ext cx="14754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x86</a:t>
            </a:r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6893675" y="4056925"/>
            <a:ext cx="6996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de processadores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ARQUITETURAS RISC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Define-se como RISC (Reduced Instruction Set Computer) uma arquitetura com poucas instruções. Significa que somente o que é realmente necessário fará parte da mesma.</a:t>
            </a:r>
            <a:endParaRPr/>
          </a:p>
          <a:p>
            <a:pPr indent="0" lvl="0" marL="0" rtl="0" algn="l">
              <a:lnSpc>
                <a:spcPct val="142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/>
              <a:t>ARQUITETURAS CISC</a:t>
            </a:r>
            <a:endParaRPr b="1"/>
          </a:p>
          <a:p>
            <a:pPr indent="0" lvl="0" marL="0" rtl="0" algn="just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Ao contrário do RISC, os processadores CISC (Complex Instruction Set Computer) possuem muitas instruções, muitas delas, inclusive, redundantes.</a:t>
            </a:r>
            <a:endParaRPr sz="13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Onde entra a arquitetura de um computador?</a:t>
            </a:r>
            <a:endParaRPr/>
          </a:p>
        </p:txBody>
      </p:sp>
      <p:sp>
        <p:nvSpPr>
          <p:cNvPr id="112" name="Google Shape;112;p21"/>
          <p:cNvSpPr/>
          <p:nvPr/>
        </p:nvSpPr>
        <p:spPr>
          <a:xfrm>
            <a:off x="127350" y="2320400"/>
            <a:ext cx="1506600" cy="63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RISC</a:t>
            </a:r>
            <a:endParaRPr/>
          </a:p>
        </p:txBody>
      </p:sp>
      <p:sp>
        <p:nvSpPr>
          <p:cNvPr id="113" name="Google Shape;113;p21"/>
          <p:cNvSpPr/>
          <p:nvPr/>
        </p:nvSpPr>
        <p:spPr>
          <a:xfrm>
            <a:off x="127350" y="3280700"/>
            <a:ext cx="1506600" cy="63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CISC</a:t>
            </a:r>
            <a:endParaRPr/>
          </a:p>
        </p:txBody>
      </p:sp>
      <p:sp>
        <p:nvSpPr>
          <p:cNvPr id="114" name="Google Shape;114;p21"/>
          <p:cNvSpPr/>
          <p:nvPr/>
        </p:nvSpPr>
        <p:spPr>
          <a:xfrm>
            <a:off x="2070475" y="2777600"/>
            <a:ext cx="1456500" cy="63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ARM</a:t>
            </a:r>
            <a:endParaRPr/>
          </a:p>
        </p:txBody>
      </p:sp>
      <p:sp>
        <p:nvSpPr>
          <p:cNvPr id="115" name="Google Shape;115;p21"/>
          <p:cNvSpPr/>
          <p:nvPr/>
        </p:nvSpPr>
        <p:spPr>
          <a:xfrm>
            <a:off x="2070475" y="3585500"/>
            <a:ext cx="1456500" cy="63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x86</a:t>
            </a:r>
            <a:endParaRPr/>
          </a:p>
        </p:txBody>
      </p:sp>
      <p:sp>
        <p:nvSpPr>
          <p:cNvPr id="116" name="Google Shape;116;p21"/>
          <p:cNvSpPr txBox="1"/>
          <p:nvPr/>
        </p:nvSpPr>
        <p:spPr>
          <a:xfrm>
            <a:off x="250299" y="1738400"/>
            <a:ext cx="11964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 de instruções</a:t>
            </a:r>
            <a:endParaRPr/>
          </a:p>
        </p:txBody>
      </p:sp>
      <p:sp>
        <p:nvSpPr>
          <p:cNvPr id="117" name="Google Shape;117;p21"/>
          <p:cNvSpPr txBox="1"/>
          <p:nvPr/>
        </p:nvSpPr>
        <p:spPr>
          <a:xfrm>
            <a:off x="2045430" y="1294375"/>
            <a:ext cx="15066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de Processador</a:t>
            </a:r>
            <a:endParaRPr/>
          </a:p>
        </p:txBody>
      </p:sp>
      <p:sp>
        <p:nvSpPr>
          <p:cNvPr id="118" name="Google Shape;118;p21"/>
          <p:cNvSpPr/>
          <p:nvPr/>
        </p:nvSpPr>
        <p:spPr>
          <a:xfrm>
            <a:off x="6091476" y="2117250"/>
            <a:ext cx="1085100" cy="117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6500" y="2549001"/>
            <a:ext cx="1946326" cy="194632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/>
          <p:nvPr/>
        </p:nvSpPr>
        <p:spPr>
          <a:xfrm>
            <a:off x="4051150" y="2777601"/>
            <a:ext cx="1939200" cy="144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Microprocessadores</a:t>
            </a:r>
            <a:endParaRPr/>
          </a:p>
        </p:txBody>
      </p:sp>
      <p:sp>
        <p:nvSpPr>
          <p:cNvPr id="121" name="Google Shape;121;p21"/>
          <p:cNvSpPr/>
          <p:nvPr/>
        </p:nvSpPr>
        <p:spPr>
          <a:xfrm>
            <a:off x="2070475" y="1887575"/>
            <a:ext cx="1456500" cy="63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PIC / ATMEL </a:t>
            </a:r>
            <a:endParaRPr/>
          </a:p>
        </p:txBody>
      </p:sp>
      <p:sp>
        <p:nvSpPr>
          <p:cNvPr id="122" name="Google Shape;122;p21"/>
          <p:cNvSpPr/>
          <p:nvPr/>
        </p:nvSpPr>
        <p:spPr>
          <a:xfrm>
            <a:off x="4051150" y="1863652"/>
            <a:ext cx="1939200" cy="63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Microcontroladores</a:t>
            </a:r>
            <a:endParaRPr/>
          </a:p>
        </p:txBody>
      </p:sp>
      <p:pic>
        <p:nvPicPr>
          <p:cNvPr id="123" name="Google Shape;123;p21"/>
          <p:cNvPicPr preferRelativeResize="0"/>
          <p:nvPr/>
        </p:nvPicPr>
        <p:blipFill rotWithShape="1">
          <a:blip r:embed="rId4">
            <a:alphaModFix/>
          </a:blip>
          <a:srcRect b="48683" l="22126" r="27055" t="-2525"/>
          <a:stretch/>
        </p:blipFill>
        <p:spPr>
          <a:xfrm>
            <a:off x="7252700" y="1903223"/>
            <a:ext cx="1735899" cy="96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/>
        </p:nvSpPr>
        <p:spPr>
          <a:xfrm>
            <a:off x="4215405" y="1294375"/>
            <a:ext cx="15066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Implementação Produto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de Computadores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900"/>
              <a:t>A Arquitetura de Computadores é o projeto conceitual e fundamental da estrutura operacional de um sistema computacional. É o estudo dos requisitos necessários para que um computador funcione e de como organizar os diversos componentes para obter melhores desempenhos.</a:t>
            </a:r>
            <a:endParaRPr sz="1900"/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075" y="2999625"/>
            <a:ext cx="4825926" cy="271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de computadores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Von Neumann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Harvard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Von Neumann</a:t>
            </a:r>
            <a:endParaRPr/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No início da computação, não havia o conceito de programa armazenado, isto é, que não existia um computador com vários programas e sim uma máquina que era projetada para executar uma determinada função. Com a necessidade de armazenar e executar programas em uma máquina, foi feito o desenvolvimento uma arquitetura capaz de fazer o mesmo, que posteriormente seria conhecida como Arquitetura de Von Neumann.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280525"/>
            <a:ext cx="41298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Ela é composta por três grandes pilares: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Unidade de Processamento Central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Sistema de memória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Sistema de entrada e saída</a:t>
            </a:r>
            <a:endParaRPr/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568922"/>
            <a:ext cx="4397700" cy="329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 txBox="1"/>
          <p:nvPr/>
        </p:nvSpPr>
        <p:spPr>
          <a:xfrm>
            <a:off x="0" y="5370300"/>
            <a:ext cx="57315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u="sng">
                <a:solidFill>
                  <a:schemeClr val="hlink"/>
                </a:solidFill>
                <a:hlinkClick r:id="rId4"/>
              </a:rPr>
              <a:t>https://medium.com/trainingcenter/a-arquitetura-de-von-neumann-121489873fd4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Gargalo de Von Neumann</a:t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2100"/>
              <a:t>O gargalo de Von Neumann está no canal de transmissão entre a CPU e a memória, pois a memória não consegue trabalhar em frequências tão altas quanto a CPU, fazendo com que o CPU fique ocioso por um certo tempo.</a:t>
            </a:r>
            <a:endParaRPr sz="2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Harvard</a:t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A Arquitetura de Harvard, baseia-se em um conceito mais recente que a de Von Neumann, tendo surgido da necessidade de se pôr o </a:t>
            </a:r>
            <a:r>
              <a:rPr lang="pt-BR"/>
              <a:t>microcontrolador/microprocessador</a:t>
            </a:r>
            <a:r>
              <a:rPr lang="pt-BR"/>
              <a:t> para trabalhar de forma mais rápida. É uma arquitetura de computador que se distingue das outras por possuir duas memórias diferentes e independentes em termos de barramento e ligação ao processador.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Von Neunmann x Harvard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A diferença entre a arquitetura Von Neunmann e a Harvard é que a Harvard separa o armazenamento e o comportamento das instruções do CPU e os dados, enquanto a Von Neumann utiliza o mesmo espaço de memória para ambos.</a:t>
            </a:r>
            <a:endParaRPr/>
          </a:p>
        </p:txBody>
      </p:sp>
      <p:pic>
        <p:nvPicPr>
          <p:cNvPr id="170" name="Google Shape;1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2446050"/>
            <a:ext cx="4618224" cy="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675" y="4087800"/>
            <a:ext cx="8362325" cy="16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 operacional</a:t>
            </a:r>
            <a:endParaRPr/>
          </a:p>
        </p:txBody>
      </p:sp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É </a:t>
            </a:r>
            <a:r>
              <a:rPr lang="pt-BR"/>
              <a:t>um programa ou um conjunto de programas cuja função é gerenciar os recursos do sistema (definir qual programa recebe atenção do processador, gerenciar memória, criar um sistema de arquivos, etc.), fornecendo uma interface entre o computador e o usuário.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Funções: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Controlar processos;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Controlar memória;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Gerenciar </a:t>
            </a:r>
            <a:r>
              <a:rPr lang="pt-BR"/>
              <a:t>armazenamento</a:t>
            </a:r>
            <a:r>
              <a:rPr lang="pt-BR"/>
              <a:t>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Gerenciar entradas e saída.</a:t>
            </a:r>
            <a:endParaRPr/>
          </a:p>
        </p:txBody>
      </p:sp>
      <p:pic>
        <p:nvPicPr>
          <p:cNvPr id="178" name="Google Shape;17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950" y="2723100"/>
            <a:ext cx="1944825" cy="287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Ulbra EAD - Introdução a Arquitetura de computadores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Prof. Filippo Valiante Filho - Arquitetura de Computadores</a:t>
            </a:r>
            <a:r>
              <a:rPr lang="pt-BR"/>
              <a:t> 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