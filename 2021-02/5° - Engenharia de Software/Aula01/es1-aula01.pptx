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715000" cx="9144000"/>
  <p:notesSz cx="7010400" cy="9296400"/>
  <p:embeddedFontLst>
    <p:embeddedFont>
      <p:font typeface="Arial Black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ArialBlack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20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/>
              <a:t>efeito digg é o aumento de tráfego… normalmente ocorre em aplicações Web. este aumento de tráfego deixa a aplicação lenta.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0:notes"/>
          <p:cNvSpPr txBox="1"/>
          <p:nvPr>
            <p:ph idx="12" type="sldNum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1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2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4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9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0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1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2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2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3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4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5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6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7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8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9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0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1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2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2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3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4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4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5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6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6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7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7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8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8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9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9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0:notes"/>
          <p:cNvSpPr/>
          <p:nvPr>
            <p:ph idx="2" type="sldImg"/>
          </p:nvPr>
        </p:nvSpPr>
        <p:spPr>
          <a:xfrm>
            <a:off x="716280" y="696913"/>
            <a:ext cx="5577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1000100" y="178575"/>
            <a:ext cx="7943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1000100" y="1283210"/>
            <a:ext cx="7943700" cy="4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-32" y="5410729"/>
            <a:ext cx="15717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001024" y="5410749"/>
            <a:ext cx="1062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SECTION_HEADER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157318" y="3214681"/>
            <a:ext cx="77724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157318" y="1964525"/>
            <a:ext cx="77724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0" y="5410729"/>
            <a:ext cx="1643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1928794" y="5410729"/>
            <a:ext cx="5786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001024" y="5410729"/>
            <a:ext cx="1062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4000"/>
              <a:buFont typeface="Arial Black"/>
              <a:buNone/>
            </a:pPr>
            <a:r>
              <a:rPr b="0" i="0" lang="pt-BR" sz="4000" u="none" cap="none" strike="noStrike">
                <a:solidFill>
                  <a:srgbClr val="FF9900"/>
                </a:solidFill>
                <a:latin typeface="Arial Black"/>
                <a:ea typeface="Arial Black"/>
                <a:cs typeface="Arial Black"/>
                <a:sym typeface="Arial Black"/>
              </a:rPr>
              <a:t>ENGENHARIA DE SOFTWARE</a:t>
            </a:r>
            <a:endParaRPr b="0" i="0" sz="4000" u="none" cap="none" strike="noStrike">
              <a:solidFill>
                <a:srgbClr val="FF99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Cássio Huggentobler de Costa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(51 98126-3079</a:t>
            </a:r>
            <a:r>
              <a:rPr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000100" y="178575"/>
            <a:ext cx="7943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 da Aula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459125" y="1283208"/>
            <a:ext cx="8484900" cy="4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/>
              <a:t>Plano de Aprendizagem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Software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Metodologias de Desenvolvimento de Softwares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001024" y="5410749"/>
            <a:ext cx="1062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00100" y="178575"/>
            <a:ext cx="7943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1000100" y="1283210"/>
            <a:ext cx="7943700" cy="4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:\ULBRAMarcio\Disciplinas\ES I\project_sw.jpg" id="86" name="Google Shape;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149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001024" y="5410749"/>
            <a:ext cx="1062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 de computador</a:t>
            </a:r>
            <a:endParaRPr sz="1600"/>
          </a:p>
          <a:p>
            <a:pPr indent="-3302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 abstrata</a:t>
            </a:r>
            <a:endParaRPr sz="1600"/>
          </a:p>
          <a:p>
            <a:pPr indent="-3302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Ferramentas/mecanismos pelas quais:</a:t>
            </a:r>
            <a:endParaRPr sz="1600"/>
          </a:p>
          <a:p>
            <a:pPr indent="-298450" lvl="1" marL="74295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</a:pP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Exploramos os recursos de hardware</a:t>
            </a:r>
            <a:endParaRPr sz="1200"/>
          </a:p>
          <a:p>
            <a:pPr indent="-2730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Executamos determinadas tarefas</a:t>
            </a:r>
            <a:endParaRPr sz="1200"/>
          </a:p>
          <a:p>
            <a:pPr indent="-2730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Resolvemos problemas</a:t>
            </a:r>
            <a:endParaRPr sz="1200"/>
          </a:p>
          <a:p>
            <a:pPr indent="-2730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Interagimos com a máquina</a:t>
            </a:r>
            <a:endParaRPr sz="1200"/>
          </a:p>
          <a:p>
            <a:pPr indent="-273050" lvl="1" marL="742950" marR="0" rtl="0" algn="l">
              <a:spcBef>
                <a:spcPts val="56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Tornamos o computador operacional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Instruções que executam uma função desejada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de dados para manipular informações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Dificuldades para desenvolver sw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Saber o que o software deve fazer: quais os requisitos (abstração)</a:t>
            </a:r>
            <a:endParaRPr/>
          </a:p>
          <a:p>
            <a:pPr indent="-342900" lvl="0" marL="342900" marR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Ferramentas, linguagens, sistemas operacionais</a:t>
            </a:r>
            <a:endParaRPr/>
          </a:p>
          <a:p>
            <a:pPr indent="-342900" lvl="0" marL="342900" marR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 e custos elevados no desenvolvimento</a:t>
            </a:r>
            <a:endParaRPr/>
          </a:p>
          <a:p>
            <a:pPr indent="-342900" lvl="0" marL="342900" marR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Prever falhas (antes de entregar)</a:t>
            </a:r>
            <a:endParaRPr/>
          </a:p>
          <a:p>
            <a:pPr indent="-342900" lvl="0" marL="342900" marR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Tratar manutenção e versões</a:t>
            </a:r>
            <a:endParaRPr/>
          </a:p>
          <a:p>
            <a:pPr indent="-342900" lvl="0" marL="533400" marR="0" rtl="0" algn="l">
              <a:spcBef>
                <a:spcPts val="592"/>
              </a:spcBef>
              <a:spcAft>
                <a:spcPts val="160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Produtividade não cresce com a demanda de serviços</a:t>
            </a:r>
            <a:endParaRPr b="0" i="0" sz="2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 do sw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não é elemento físico; é um elemento lógico: não tem propriedades físicas como visualizar, medir, etc.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Abstração maior: o produto final é diferente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processo de gerenciamento é diferente; o relacionamento entre as pessoas é diferente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Existem diferentes abordagens para se chegar ao produto final</a:t>
            </a:r>
            <a:endParaRPr/>
          </a:p>
          <a:p>
            <a:pPr indent="-342899" lvl="0" marL="627063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sw não se desgasta com o uso, mas deteriora-se</a:t>
            </a:r>
            <a:endParaRPr/>
          </a:p>
          <a:p>
            <a:pPr indent="-342899" lvl="0" marL="627063" marR="0" rtl="0" algn="l">
              <a:lnSpc>
                <a:spcPct val="90000"/>
              </a:lnSpc>
              <a:spcBef>
                <a:spcPts val="544"/>
              </a:spcBef>
              <a:spcAft>
                <a:spcPts val="160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há peças de reserva = manutenção, correção, aperfeiçoamento</a:t>
            </a:r>
            <a:endParaRPr b="0" i="0" sz="2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Problemas/Crise do Software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inadequado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Cronogramas e custos imprecisos: dificuldades em prever o processo durante o desenvolvimento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Inexistência de dados históricos sobre o processo de desenvolvimento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Comunicação diferente: insatisfação de usuários</a:t>
            </a:r>
            <a:endParaRPr/>
          </a:p>
          <a:p>
            <a:pPr indent="-342900" lvl="0" marL="533400" marR="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Carência de conceitos quantitativos sobre confiabilidade, qualidade, reusabilidade</a:t>
            </a:r>
            <a:endParaRPr b="0" i="0" sz="2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99" lvl="0" marL="722313" marR="0" rtl="0" algn="l">
              <a:lnSpc>
                <a:spcPct val="80000"/>
              </a:lnSpc>
              <a:spcBef>
                <a:spcPts val="592"/>
              </a:spcBef>
              <a:spcAft>
                <a:spcPts val="160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existente é de difícil manutenção</a:t>
            </a:r>
            <a:endParaRPr b="0" i="0" sz="2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Solução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Combinar métodos para as fases de desenvolvimento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Ferramentas para automatizar esses métodos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para assegurar qualidade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Engenharia de Software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Engenharia de Software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280525"/>
            <a:ext cx="84282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b="0" i="0" lang="pt-BR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Abordagem sistemática para o desenvolvimento, operação e descarte de software.</a:t>
            </a:r>
            <a:endParaRPr sz="1700"/>
          </a:p>
          <a:p>
            <a:pPr indent="-33655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b="0" i="0" lang="pt-BR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Aplicação prática de conhecimento científico ao projeto e construção de software.</a:t>
            </a:r>
            <a:endParaRPr sz="1700"/>
          </a:p>
          <a:p>
            <a:pPr indent="-336550" lvl="0" marL="342900" marR="0" rtl="0" algn="l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100"/>
              <a:buFont typeface="Arial"/>
              <a:buChar char="•"/>
            </a:pPr>
            <a:r>
              <a:rPr b="0" i="0" lang="pt-BR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Disciplina que utiliza princípios de engenharia para produzir e manter dentro de prazos e custos estimados.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da Eng.Sw.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Melhorar a qualidade do software e aumentar </a:t>
            </a:r>
            <a:b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produtividade e satisfação  profissional de engenheiros  de software</a:t>
            </a:r>
            <a:endParaRPr/>
          </a:p>
        </p:txBody>
      </p:sp>
      <p:sp>
        <p:nvSpPr>
          <p:cNvPr id="143" name="Google Shape;143;p2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771556" y="178575"/>
            <a:ext cx="8086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da Eng. Sw.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1000100" y="1283210"/>
            <a:ext cx="3143400" cy="40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Automatizam os métodos,</a:t>
            </a:r>
            <a:br>
              <a:rPr b="0" i="0" lang="pt-BR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dão apoio à utilização dos</a:t>
            </a:r>
            <a:br>
              <a:rPr b="0" i="0" lang="pt-BR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mesmos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</a:t>
            </a:r>
            <a:r>
              <a:rPr b="0" i="0" lang="pt-BR" sz="2000" u="none" cap="none" strike="noStrik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Como aplicar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C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                      Como fazer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" name="Google Shape;150;p26"/>
          <p:cNvGrpSpPr/>
          <p:nvPr/>
        </p:nvGrpSpPr>
        <p:grpSpPr>
          <a:xfrm>
            <a:off x="4074578" y="1353917"/>
            <a:ext cx="5074329" cy="4238565"/>
            <a:chOff x="0" y="3982"/>
            <a:chExt cx="5381620" cy="5381621"/>
          </a:xfrm>
        </p:grpSpPr>
        <p:sp>
          <p:nvSpPr>
            <p:cNvPr id="151" name="Google Shape;151;p26"/>
            <p:cNvSpPr/>
            <p:nvPr/>
          </p:nvSpPr>
          <p:spPr>
            <a:xfrm>
              <a:off x="0" y="3982"/>
              <a:ext cx="5381620" cy="5381620"/>
            </a:xfrm>
            <a:prstGeom prst="ellipse">
              <a:avLst/>
            </a:prstGeom>
            <a:solidFill>
              <a:srgbClr val="49ACC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6"/>
            <p:cNvSpPr txBox="1"/>
            <p:nvPr/>
          </p:nvSpPr>
          <p:spPr>
            <a:xfrm>
              <a:off x="1681756" y="273063"/>
              <a:ext cx="2018107" cy="5381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Engenharia de Software</a:t>
              </a:r>
              <a:endParaRPr/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403621" y="811225"/>
              <a:ext cx="4574377" cy="4574377"/>
            </a:xfrm>
            <a:prstGeom prst="ellipse">
              <a:avLst/>
            </a:prstGeom>
            <a:solidFill>
              <a:srgbClr val="47D29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6"/>
            <p:cNvSpPr txBox="1"/>
            <p:nvPr/>
          </p:nvSpPr>
          <p:spPr>
            <a:xfrm>
              <a:off x="1704459" y="1074252"/>
              <a:ext cx="1972700" cy="5260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Ferramentas</a:t>
              </a:r>
              <a:endParaRPr/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807242" y="1618468"/>
              <a:ext cx="3767134" cy="3767134"/>
            </a:xfrm>
            <a:prstGeom prst="ellipse">
              <a:avLst/>
            </a:prstGeom>
            <a:solidFill>
              <a:srgbClr val="5FDF4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6"/>
            <p:cNvSpPr txBox="1"/>
            <p:nvPr/>
          </p:nvSpPr>
          <p:spPr>
            <a:xfrm>
              <a:off x="1716064" y="1878401"/>
              <a:ext cx="1949491" cy="519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Metodologias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1210864" y="2425711"/>
              <a:ext cx="2959891" cy="2959891"/>
            </a:xfrm>
            <a:prstGeom prst="ellipse">
              <a:avLst/>
            </a:prstGeom>
            <a:solidFill>
              <a:srgbClr val="D3EB4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6"/>
            <p:cNvSpPr txBox="1"/>
            <p:nvPr/>
          </p:nvSpPr>
          <p:spPr>
            <a:xfrm>
              <a:off x="1891639" y="2692102"/>
              <a:ext cx="1598341" cy="532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Métodos e Técnicas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1614486" y="3232955"/>
              <a:ext cx="2152648" cy="2152648"/>
            </a:xfrm>
            <a:prstGeom prst="ellipse">
              <a:avLst/>
            </a:prstGeom>
            <a:solidFill>
              <a:srgbClr val="F6944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6"/>
            <p:cNvSpPr txBox="1"/>
            <p:nvPr/>
          </p:nvSpPr>
          <p:spPr>
            <a:xfrm>
              <a:off x="1929734" y="3771117"/>
              <a:ext cx="1522151" cy="1076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Princípios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26"/>
          <p:cNvSpPr txBox="1"/>
          <p:nvPr/>
        </p:nvSpPr>
        <p:spPr>
          <a:xfrm>
            <a:off x="857224" y="892955"/>
            <a:ext cx="4000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Melhorar a qualidade do software e aumentar a produtividade e satisfação  profissional de engenheiros  de sw.</a:t>
            </a:r>
            <a:endParaRPr/>
          </a:p>
        </p:txBody>
      </p:sp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8001024" y="5410749"/>
            <a:ext cx="1062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Princípios da Eng.Sw.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Formalidade: reduz inconsistências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Abstração: aspectos importantes; ignorar detalhes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Decomposição: lidar com complexidade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Generalização: reutilização, custo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Flexibilização: mudanças, processo incremental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1000100" y="178575"/>
            <a:ext cx="7943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 Desenv. Sw.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28"/>
          <p:cNvGrpSpPr/>
          <p:nvPr/>
        </p:nvGrpSpPr>
        <p:grpSpPr>
          <a:xfrm>
            <a:off x="285720" y="1283229"/>
            <a:ext cx="7943849" cy="4014891"/>
            <a:chOff x="0" y="0"/>
            <a:chExt cx="7943849" cy="4818062"/>
          </a:xfrm>
        </p:grpSpPr>
        <p:sp>
          <p:nvSpPr>
            <p:cNvPr id="176" name="Google Shape;176;p28"/>
            <p:cNvSpPr/>
            <p:nvPr/>
          </p:nvSpPr>
          <p:spPr>
            <a:xfrm>
              <a:off x="0" y="0"/>
              <a:ext cx="6116764" cy="867251"/>
            </a:xfrm>
            <a:prstGeom prst="roundRect">
              <a:avLst>
                <a:gd fmla="val 10000" name="adj"/>
              </a:avLst>
            </a:prstGeom>
            <a:solidFill>
              <a:srgbClr val="49ACC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8"/>
            <p:cNvSpPr txBox="1"/>
            <p:nvPr/>
          </p:nvSpPr>
          <p:spPr>
            <a:xfrm>
              <a:off x="25401" y="25401"/>
              <a:ext cx="5079464" cy="816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3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Análise</a:t>
              </a:r>
              <a:endParaRPr b="0" i="0" sz="3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456771" y="987702"/>
              <a:ext cx="6116764" cy="867251"/>
            </a:xfrm>
            <a:prstGeom prst="roundRect">
              <a:avLst>
                <a:gd fmla="val 10000" name="adj"/>
              </a:avLst>
            </a:prstGeom>
            <a:solidFill>
              <a:srgbClr val="47D29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8"/>
            <p:cNvSpPr txBox="1"/>
            <p:nvPr/>
          </p:nvSpPr>
          <p:spPr>
            <a:xfrm>
              <a:off x="482172" y="1013103"/>
              <a:ext cx="5045477" cy="816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3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Projeto</a:t>
              </a:r>
              <a:endParaRPr b="0" i="0" sz="3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8"/>
            <p:cNvSpPr/>
            <p:nvPr/>
          </p:nvSpPr>
          <p:spPr>
            <a:xfrm>
              <a:off x="913542" y="1975405"/>
              <a:ext cx="6116764" cy="867251"/>
            </a:xfrm>
            <a:prstGeom prst="roundRect">
              <a:avLst>
                <a:gd fmla="val 10000" name="adj"/>
              </a:avLst>
            </a:prstGeom>
            <a:solidFill>
              <a:srgbClr val="5FDF4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8"/>
            <p:cNvSpPr txBox="1"/>
            <p:nvPr/>
          </p:nvSpPr>
          <p:spPr>
            <a:xfrm>
              <a:off x="938943" y="2000806"/>
              <a:ext cx="5045477" cy="816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3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Codificação</a:t>
              </a:r>
              <a:endParaRPr/>
            </a:p>
          </p:txBody>
        </p:sp>
        <p:sp>
          <p:nvSpPr>
            <p:cNvPr id="182" name="Google Shape;182;p28"/>
            <p:cNvSpPr/>
            <p:nvPr/>
          </p:nvSpPr>
          <p:spPr>
            <a:xfrm>
              <a:off x="1370314" y="2963108"/>
              <a:ext cx="6116764" cy="867251"/>
            </a:xfrm>
            <a:prstGeom prst="roundRect">
              <a:avLst>
                <a:gd fmla="val 10000" name="adj"/>
              </a:avLst>
            </a:prstGeom>
            <a:solidFill>
              <a:srgbClr val="D3EB4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8"/>
            <p:cNvSpPr txBox="1"/>
            <p:nvPr/>
          </p:nvSpPr>
          <p:spPr>
            <a:xfrm>
              <a:off x="1395715" y="2988509"/>
              <a:ext cx="5045477" cy="816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3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Teste</a:t>
              </a:r>
              <a:endParaRPr/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1827085" y="3950811"/>
              <a:ext cx="6116764" cy="867251"/>
            </a:xfrm>
            <a:prstGeom prst="roundRect">
              <a:avLst>
                <a:gd fmla="val 10000" name="adj"/>
              </a:avLst>
            </a:prstGeom>
            <a:solidFill>
              <a:srgbClr val="F6944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8"/>
            <p:cNvSpPr txBox="1"/>
            <p:nvPr/>
          </p:nvSpPr>
          <p:spPr>
            <a:xfrm>
              <a:off x="1852486" y="3976212"/>
              <a:ext cx="5045477" cy="816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3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Manutenção</a:t>
              </a:r>
              <a:endParaRPr/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5553051" y="633575"/>
              <a:ext cx="563713" cy="563713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DE1E8">
                <a:alpha val="89803"/>
              </a:srgbClr>
            </a:solidFill>
            <a:ln cap="flat" cmpd="sng" w="25400">
              <a:solidFill>
                <a:srgbClr val="CDE1E8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8"/>
            <p:cNvSpPr txBox="1"/>
            <p:nvPr/>
          </p:nvSpPr>
          <p:spPr>
            <a:xfrm>
              <a:off x="5679886" y="633575"/>
              <a:ext cx="310043" cy="424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31750" spcFirstLastPara="1" rIns="31750" wrap="square" tIns="31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6009822" y="1621278"/>
              <a:ext cx="563713" cy="563713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CEFD6">
                <a:alpha val="89803"/>
              </a:srgbClr>
            </a:solidFill>
            <a:ln cap="flat" cmpd="sng" w="25400">
              <a:solidFill>
                <a:srgbClr val="CDE1E8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8"/>
            <p:cNvSpPr txBox="1"/>
            <p:nvPr/>
          </p:nvSpPr>
          <p:spPr>
            <a:xfrm>
              <a:off x="6136657" y="1621278"/>
              <a:ext cx="310043" cy="424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31750" spcFirstLastPara="1" rIns="31750" wrap="square" tIns="31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6466593" y="2594526"/>
              <a:ext cx="563713" cy="563713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9F5CB">
                <a:alpha val="89803"/>
              </a:srgbClr>
            </a:solidFill>
            <a:ln cap="flat" cmpd="sng" w="25400">
              <a:solidFill>
                <a:srgbClr val="CDE1E8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8"/>
            <p:cNvSpPr txBox="1"/>
            <p:nvPr/>
          </p:nvSpPr>
          <p:spPr>
            <a:xfrm>
              <a:off x="6593428" y="2594526"/>
              <a:ext cx="310043" cy="424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31750" spcFirstLastPara="1" rIns="31750" wrap="square" tIns="31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6923365" y="3591865"/>
              <a:ext cx="563713" cy="563713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BDACB">
                <a:alpha val="89803"/>
              </a:srgbClr>
            </a:solidFill>
            <a:ln cap="flat" cmpd="sng" w="25400">
              <a:solidFill>
                <a:srgbClr val="CDE1E8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8"/>
            <p:cNvSpPr txBox="1"/>
            <p:nvPr/>
          </p:nvSpPr>
          <p:spPr>
            <a:xfrm>
              <a:off x="7050200" y="3591865"/>
              <a:ext cx="310043" cy="424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31750" spcFirstLastPara="1" rIns="31750" wrap="square" tIns="31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28"/>
          <p:cNvSpPr/>
          <p:nvPr/>
        </p:nvSpPr>
        <p:spPr>
          <a:xfrm>
            <a:off x="6715140" y="1369208"/>
            <a:ext cx="1428900" cy="47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731" y="58914"/>
                </a:moveTo>
                <a:lnTo>
                  <a:pt x="-46000" y="148241"/>
                </a:lnTo>
              </a:path>
            </a:pathLst>
          </a:custGeom>
          <a:solidFill>
            <a:schemeClr val="accent5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Requisitos de Software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7215199" y="2024050"/>
            <a:ext cx="1562400" cy="833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731" y="62224"/>
                </a:moveTo>
                <a:lnTo>
                  <a:pt x="-48648" y="105206"/>
                </a:lnTo>
              </a:path>
            </a:pathLst>
          </a:custGeom>
          <a:solidFill>
            <a:schemeClr val="accent3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Especificação funcional; desempenho; interfaces</a:t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7643834" y="3036095"/>
            <a:ext cx="1285800" cy="5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731" y="62224"/>
                </a:moveTo>
                <a:lnTo>
                  <a:pt x="-52548" y="117606"/>
                </a:lnTo>
              </a:path>
            </a:pathLst>
          </a:custGeom>
          <a:solidFill>
            <a:srgbClr val="FFCC00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Estr.Dados; Aquit.Sw.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8015803" y="3810007"/>
            <a:ext cx="1128300" cy="53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731" y="62224"/>
                </a:moveTo>
                <a:lnTo>
                  <a:pt x="-50872" y="135262"/>
                </a:lnTo>
              </a:path>
            </a:pathLst>
          </a:custGeom>
          <a:solidFill>
            <a:schemeClr val="accent6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/>
          <p:nvPr>
            <p:ph idx="12" type="sldNum"/>
          </p:nvPr>
        </p:nvSpPr>
        <p:spPr>
          <a:xfrm>
            <a:off x="8001024" y="5410749"/>
            <a:ext cx="1062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</a:t>
            </a:r>
            <a:r>
              <a:rPr b="1" i="1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 de desenvolvimento de software (MDS) ou processo de software é um conjunto de atividades e resultados associados que auxiliam na produção de software.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Arial"/>
              <a:buChar char="•"/>
            </a:pP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Atividades fundamentais comuns </a:t>
            </a:r>
            <a:r>
              <a:rPr lang="pt-BR" sz="2960"/>
              <a:t>às</a:t>
            </a:r>
            <a:r>
              <a:rPr b="0" i="0" lang="pt-BR" sz="29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diversas metodologias de desenvolvimento de software: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Especificação de software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 e Implementação de Software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Validação de Software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18"/>
              </a:spcBef>
              <a:spcAft>
                <a:spcPts val="1600"/>
              </a:spcAft>
              <a:buClr>
                <a:schemeClr val="dk1"/>
              </a:buClr>
              <a:buSzPts val="2590"/>
              <a:buFont typeface="Arial"/>
              <a:buChar char="–"/>
            </a:pPr>
            <a:r>
              <a:rPr b="0" i="0" lang="pt-BR" sz="25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Evolução de Software</a:t>
            </a:r>
            <a:endParaRPr b="0" i="0" sz="25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0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Atividades Fundamentais nas MDS:</a:t>
            </a:r>
            <a:b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Especificação de Software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0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a definição das funcionalidades (requisitos) e das restrições do </a:t>
            </a:r>
            <a:r>
              <a:rPr b="0" i="1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Geralmente é a fase em que o desenvolvedor conversa com o cliente para definir as características do novo </a:t>
            </a:r>
            <a:r>
              <a:rPr b="0" i="1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0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Atividades Fundamentais nas MDS:</a:t>
            </a:r>
            <a:b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 e Implementação de Software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0" i="1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produzido de acordo com as especificações.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Nesta fase são propostos modelos através de diagramas e estes modelos são implementados em algumas linguagens de programação.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0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Atividades Fundamentais nas MDS:</a:t>
            </a:r>
            <a:b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3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Validação de Software</a:t>
            </a:r>
            <a:endParaRPr b="1" i="0" sz="3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0" i="1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validado para garantir que todas as funcionalidades especificadas foram implementadas.</a:t>
            </a:r>
            <a:endParaRPr/>
          </a:p>
          <a:p>
            <a:pPr indent="-170180" lvl="0" marL="34290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None/>
            </a:pPr>
            <a:r>
              <a:t/>
            </a:r>
            <a:endParaRPr b="0" i="0" sz="2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0180" lvl="0" marL="34290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None/>
            </a:pPr>
            <a:r>
              <a:t/>
            </a:r>
            <a:endParaRPr b="0" i="0" sz="2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0180" lvl="0" marL="34290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None/>
            </a:pPr>
            <a:r>
              <a:t/>
            </a:r>
            <a:endParaRPr b="0" i="0" sz="2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0" i="1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r>
              <a:rPr b="0" i="0" lang="pt-BR" sz="27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precisa evoluir para continuar sendo útil ao cliente. Manutenções: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Arial"/>
              <a:buChar char="–"/>
            </a:pPr>
            <a:r>
              <a:rPr b="0" i="0" lang="pt-BR" sz="23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corretiva: correção de defeitos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Arial"/>
              <a:buChar char="–"/>
            </a:pPr>
            <a:r>
              <a:rPr b="0" i="0" lang="pt-BR" sz="23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adaptativa: adapta ao ambiente externo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Font typeface="Arial"/>
              <a:buChar char="–"/>
            </a:pPr>
            <a:r>
              <a:rPr b="0" i="0" lang="pt-BR" sz="23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perfectiva/</a:t>
            </a:r>
            <a:r>
              <a:rPr lang="pt-BR" sz="2380"/>
              <a:t>Evoltiva</a:t>
            </a:r>
            <a:r>
              <a:rPr b="0" i="0" lang="pt-BR" sz="23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adiciona novas funcionalidades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76"/>
              </a:spcBef>
              <a:spcAft>
                <a:spcPts val="1600"/>
              </a:spcAft>
              <a:buClr>
                <a:schemeClr val="dk1"/>
              </a:buClr>
              <a:buSzPts val="2380"/>
              <a:buFont typeface="Arial"/>
              <a:buChar char="–"/>
            </a:pPr>
            <a:r>
              <a:rPr b="0" i="0" lang="pt-BR" sz="23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Manutenção preventiva: melhorias</a:t>
            </a:r>
            <a:endParaRPr b="0" i="0" sz="2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914432" y="2262183"/>
            <a:ext cx="8229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None/>
            </a:pPr>
            <a:r>
              <a:rPr b="1" i="0" lang="pt-BR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Evolução de Software</a:t>
            </a:r>
            <a:endParaRPr b="1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Considerações Gerais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Muitas empresas desenvolvem </a:t>
            </a:r>
            <a:r>
              <a:rPr b="0" i="1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sem a utilização de nenhuma MDS formal.</a:t>
            </a:r>
            <a:endParaRPr sz="1400"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 sz="1400"/>
              <a:t>Normalmente</a:t>
            </a: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pequenas e médias empresas não possuem recursos suficientes para adotar o uso de “processos pesados”</a:t>
            </a:r>
            <a:endParaRPr sz="1400"/>
          </a:p>
          <a:p>
            <a:pPr indent="-3175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 sz="1400"/>
          </a:p>
          <a:p>
            <a:pPr indent="-2603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Baixa qualidade no produto final</a:t>
            </a:r>
            <a:endParaRPr sz="1000"/>
          </a:p>
          <a:p>
            <a:pPr indent="-2603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Dificuldade de entrega do produto nos prazos</a:t>
            </a:r>
            <a:endParaRPr sz="1000"/>
          </a:p>
          <a:p>
            <a:pPr indent="-2603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Elevação de custos</a:t>
            </a:r>
            <a:endParaRPr sz="1000"/>
          </a:p>
          <a:p>
            <a:pPr indent="-2603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Dificuldade de evolução/manutenção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 de Metodologias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Existem diversas MDS na literatura sobre Engenharia de Software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empresa pode criar ou definir sua MDS, normalmente fundamentada em alguma MDS existente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Metodologias Tradicionais: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Orientadas a documentação</a:t>
            </a:r>
            <a:endParaRPr/>
          </a:p>
          <a:p>
            <a:pPr indent="-342900" lvl="0" marL="722313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Metodologias Ágeis</a:t>
            </a:r>
            <a:endParaRPr/>
          </a:p>
          <a:p>
            <a:pPr indent="-285750" lvl="1" marL="1073150" marR="0" rtl="0" algn="l">
              <a:lnSpc>
                <a:spcPct val="90000"/>
              </a:lnSpc>
              <a:spcBef>
                <a:spcPts val="560"/>
              </a:spcBef>
              <a:spcAft>
                <a:spcPts val="160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com um mínimo de documentação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METODOLOGIAS TRADICIONAIS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5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60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Também chamadas de “pesadas” ou “orientadas a documentação”</a:t>
            </a:r>
            <a:endParaRPr b="0" i="0" sz="20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MDS Codifica-Corrige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6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pode ser chamada de metodologia no sentido real da palavra</a:t>
            </a:r>
            <a:endParaRPr sz="1700"/>
          </a:p>
          <a:p>
            <a:pPr indent="-33655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“Apenas faça funcionar”</a:t>
            </a:r>
            <a:endParaRPr sz="1700"/>
          </a:p>
          <a:p>
            <a:pPr indent="-33655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Inicialmente o cliente oferece uma especificação do que ele precisa, mas nada substancial (anotações, email ou qualquer outra fonte não muito consistente)</a:t>
            </a:r>
            <a:endParaRPr sz="1700"/>
          </a:p>
          <a:p>
            <a:pPr indent="-33655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 MDS baseia-se no conhecimento da equipe para preencher as lacunas</a:t>
            </a:r>
            <a:endParaRPr sz="1700"/>
          </a:p>
          <a:p>
            <a:pPr indent="-33655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desenvolvimento se inicia com ciclos rápidos de codificação seguidos por correções.</a:t>
            </a:r>
            <a:endParaRPr sz="1700"/>
          </a:p>
          <a:p>
            <a:pPr indent="-2286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pt-B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Efeitos colaterais:</a:t>
            </a:r>
            <a:endParaRPr sz="1700"/>
          </a:p>
          <a:p>
            <a:pPr indent="-279400" lvl="1" marL="74295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pt-B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qualidade do produto é baixa</a:t>
            </a:r>
            <a:endParaRPr sz="1300"/>
          </a:p>
          <a:p>
            <a:pPr indent="-279400" lvl="1" marL="74295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pt-B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sistema freqüentemente se transforma num código bagunçado, com falta de adaptabilidade, reuso e interoperabilidade</a:t>
            </a:r>
            <a:endParaRPr sz="1300"/>
          </a:p>
          <a:p>
            <a:pPr indent="-279400" lvl="1" marL="74295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pt-B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sistemas são difíceis de serem mantidos e aprimorados</a:t>
            </a:r>
            <a:endParaRPr sz="1300"/>
          </a:p>
          <a:p>
            <a:pPr indent="-279400" lvl="1" marL="742950" marR="0" rtl="0" algn="l">
              <a:spcBef>
                <a:spcPts val="32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pt-B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sistemas freqüentemente tornam-se complicados e com baixa escalabilidade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dificacorrige.png" id="255" name="Google Shape;25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496" y="3509963"/>
            <a:ext cx="4095002" cy="56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scata.png" id="261" name="Google Shape;26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8175" y="1712567"/>
            <a:ext cx="3039625" cy="39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7"/>
          <p:cNvSpPr txBox="1"/>
          <p:nvPr>
            <p:ph idx="1" type="body"/>
          </p:nvPr>
        </p:nvSpPr>
        <p:spPr>
          <a:xfrm>
            <a:off x="345900" y="1142400"/>
            <a:ext cx="8452200" cy="3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Foi desenvolvida pela marinha norte-americana nos anos 60 para desenvolvimento de softwares militares </a:t>
            </a:r>
            <a:b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complexos</a:t>
            </a:r>
            <a:endParaRPr sz="1300"/>
          </a:p>
          <a:p>
            <a:pPr indent="-31115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projeto segue uma série de passos ordenados</a:t>
            </a:r>
            <a:endParaRPr sz="1300"/>
          </a:p>
          <a:p>
            <a:pPr indent="-31115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final de cada fase, a equipe de projeto finaliza </a:t>
            </a:r>
            <a:b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revisão.</a:t>
            </a:r>
            <a:endParaRPr sz="1300"/>
          </a:p>
          <a:p>
            <a:pPr indent="-31115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desenvolvimento não continua até que o </a:t>
            </a:r>
            <a:b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 esteja satisfeito com os resultados</a:t>
            </a:r>
            <a:endParaRPr sz="1300"/>
          </a:p>
          <a:p>
            <a:pPr indent="-31115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for necessário eventual alguma modificação, </a:t>
            </a:r>
            <a:b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voltar os passos de desenvolvimento do processo </a:t>
            </a:r>
            <a:b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complicado É extremamente formal</a:t>
            </a:r>
            <a:endParaRPr sz="1300"/>
          </a:p>
          <a:p>
            <a:pPr indent="-31115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baseada em documentos e possui uma </a:t>
            </a:r>
            <a:b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enorme quantidade de “entregáveis” e saídas </a:t>
            </a:r>
            <a:b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nada mais são do que documentos</a:t>
            </a:r>
            <a:endParaRPr sz="1300"/>
          </a:p>
          <a:p>
            <a:pPr indent="-31115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Alto valor dado ao planejamento</a:t>
            </a:r>
            <a:endParaRPr sz="1300"/>
          </a:p>
          <a:p>
            <a:pPr indent="-31115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 bem quando os requisitos do usuário </a:t>
            </a:r>
            <a:b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rígidos e podem ser conhecidos com antecedência</a:t>
            </a:r>
            <a:endParaRPr sz="1300"/>
          </a:p>
          <a:p>
            <a:pPr indent="-228600" lvl="0" marL="342900" marR="0" rtl="0" algn="l"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7"/>
          <p:cNvSpPr txBox="1"/>
          <p:nvPr>
            <p:ph type="title"/>
          </p:nvPr>
        </p:nvSpPr>
        <p:spPr>
          <a:xfrm>
            <a:off x="311700" y="255347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MDS em Cascata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totipagemEvolutiva.png" id="269" name="Google Shape;2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2118" y="3122027"/>
            <a:ext cx="3158730" cy="159523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8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MDS de Prototipagem Evolutiva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8"/>
          <p:cNvSpPr txBox="1"/>
          <p:nvPr>
            <p:ph idx="1" type="body"/>
          </p:nvPr>
        </p:nvSpPr>
        <p:spPr>
          <a:xfrm>
            <a:off x="311700" y="1280525"/>
            <a:ext cx="86172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uma abordagem que visualiza o desenvolvimento de concepções do sistema conforme o andamento do projeto</a:t>
            </a:r>
            <a:endParaRPr sz="1400"/>
          </a:p>
          <a:p>
            <a:pPr indent="-3175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Baseia-se na utilização de prototipagem visual ou modelos do sistema final</a:t>
            </a:r>
            <a:endParaRPr sz="1400"/>
          </a:p>
          <a:p>
            <a:pPr indent="-3175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 podem ser simples desenhos, imagens gráficas e até cópias completas em HTML do sistema esperado.</a:t>
            </a:r>
            <a:endParaRPr sz="1400"/>
          </a:p>
          <a:p>
            <a:pPr indent="-3175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Possibilita que o cliente tenha certeza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maior do resultado final</a:t>
            </a:r>
            <a:endParaRPr sz="1400"/>
          </a:p>
          <a:p>
            <a:pPr indent="-3175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desenvolvimento real não inicia até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o protótipo final seja aceito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uma metodologia </a:t>
            </a:r>
            <a:r>
              <a:rPr lang="pt-BR" sz="1400"/>
              <a:t>flexível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respeito de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mudanças de requisitos, mas ainda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necessita de muito controle</a:t>
            </a:r>
            <a:endParaRPr sz="1400"/>
          </a:p>
          <a:p>
            <a:pPr indent="-3175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planejamento efetivo é difícil,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projetos podem ser reduzidos a um ciclo “codifica-corrige”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depois que o desenvolvimento é iniciado</a:t>
            </a:r>
            <a:endParaRPr sz="1400"/>
          </a:p>
          <a:p>
            <a:pPr indent="-3175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valor do protótipo não deve ser superestimado pois não é um software funcional</a:t>
            </a:r>
            <a:endParaRPr sz="1400"/>
          </a:p>
          <a:p>
            <a:pPr indent="-228600" lvl="0" marL="342900" marR="0" rtl="0" algn="l"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ntregasEstagiadas.png" id="277" name="Google Shape;27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3570" y="2269325"/>
            <a:ext cx="2865079" cy="291269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9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MDS de Entrega por Estágios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9"/>
          <p:cNvSpPr txBox="1"/>
          <p:nvPr>
            <p:ph idx="1" type="body"/>
          </p:nvPr>
        </p:nvSpPr>
        <p:spPr>
          <a:xfrm>
            <a:off x="311700" y="1280525"/>
            <a:ext cx="83940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Outra abordagem modificada da MDS em Cascata</a:t>
            </a:r>
            <a:endParaRPr sz="1200"/>
          </a:p>
          <a:p>
            <a:pPr indent="-3048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 um fluxo definido do início ao fim e as aceitações ocorrem a cada estágio</a:t>
            </a:r>
            <a:endParaRPr sz="1200"/>
          </a:p>
          <a:p>
            <a:pPr indent="-3048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requisitos de negócio do cliente são quebrados em grande componentes, e são entregues ao cliente em estágios discretos.</a:t>
            </a:r>
            <a:endParaRPr sz="1200"/>
          </a:p>
          <a:p>
            <a:pPr indent="-3048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ênfase é dada a conjuntos de temas ou </a:t>
            </a:r>
            <a:b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funcionalidades permite que os requisitos </a:t>
            </a:r>
            <a:b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 importantes sejam desenvolvidos </a:t>
            </a:r>
            <a:b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primeiro.</a:t>
            </a:r>
            <a:endParaRPr sz="1200"/>
          </a:p>
          <a:p>
            <a:pPr indent="-3048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cliente obtém um sistema funcional de forma </a:t>
            </a:r>
            <a:b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 rápida</a:t>
            </a:r>
            <a:endParaRPr sz="1200"/>
          </a:p>
          <a:p>
            <a:pPr indent="-304800" lvl="0" marL="43815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 um planejamento cuidadoso e não é </a:t>
            </a:r>
            <a:b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muito propício a alterações</a:t>
            </a:r>
            <a:endParaRPr sz="1200"/>
          </a:p>
          <a:p>
            <a:pPr indent="-304799" lvl="0" marL="627063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desenvolvedores precisam entender </a:t>
            </a:r>
            <a:b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todas as interdependências  entre os </a:t>
            </a:r>
            <a:b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e funções que devem ser </a:t>
            </a:r>
            <a:b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considerados no planejamento dos estágios</a:t>
            </a:r>
            <a:endParaRPr sz="1200"/>
          </a:p>
          <a:p>
            <a:pPr indent="-304800" lvl="0" marL="800100" marR="0" rtl="0" algn="l"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riscos são reduzidos para equipes que utilizam entregas por </a:t>
            </a:r>
            <a:b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estágios, pois elas são efetuadas em blocos menores, porém </a:t>
            </a:r>
            <a:b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devem ser controladas e monitoradas</a:t>
            </a:r>
            <a:endParaRPr sz="1200"/>
          </a:p>
        </p:txBody>
      </p:sp>
      <p:sp>
        <p:nvSpPr>
          <p:cNvPr id="280" name="Google Shape;280;p3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98.gif" id="285" name="Google Shape;28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3028" y="3712368"/>
            <a:ext cx="3377156" cy="184548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MDS RUP (</a:t>
            </a:r>
            <a:r>
              <a:rPr b="1" i="1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Rational Unified Process</a:t>
            </a: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0"/>
          <p:cNvSpPr txBox="1"/>
          <p:nvPr>
            <p:ph idx="1" type="body"/>
          </p:nvPr>
        </p:nvSpPr>
        <p:spPr>
          <a:xfrm>
            <a:off x="311700" y="1280525"/>
            <a:ext cx="82869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Fornece uma disciplina de desenvolvimento utilizando um conjunto de ferramentas, modelos e entregáveis</a:t>
            </a:r>
            <a:endParaRPr sz="1400"/>
          </a:p>
          <a:p>
            <a:pPr indent="-3175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RUP se diferencia das demais por ser proprietária de uma empresa (IBM)</a:t>
            </a:r>
            <a:endParaRPr sz="1400"/>
          </a:p>
          <a:p>
            <a:pPr indent="-3175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MDS padronizada pode ser atrativa para organizações que necessitem de uma linguagem comum e ferramentas padronizadas para toda a organização</a:t>
            </a:r>
            <a:endParaRPr sz="1400"/>
          </a:p>
          <a:p>
            <a:pPr indent="-3175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 a UML (</a:t>
            </a:r>
            <a:r>
              <a:rPr b="0" i="1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Unified Modeling Language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para comunicar os requisitos, arquiteturas e modelagens</a:t>
            </a:r>
            <a:endParaRPr sz="1400"/>
          </a:p>
          <a:p>
            <a:pPr indent="-3175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uma MDS interativa com foco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redução de riscos do projeto</a:t>
            </a:r>
            <a:endParaRPr sz="1400"/>
          </a:p>
          <a:p>
            <a:pPr indent="-3175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 agrega valor real à organização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necessita manter padrões tanto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as comunicações externas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quanto para a comunicação com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equipe de desenvolvimento</a:t>
            </a:r>
            <a:endParaRPr sz="1400"/>
          </a:p>
          <a:p>
            <a:pPr indent="-317500" lvl="0" marL="8001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Aumento dos requisitos de documentação</a:t>
            </a:r>
            <a:endParaRPr sz="1400"/>
          </a:p>
          <a:p>
            <a:pPr indent="-317500" lvl="0" marL="990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Necessidade dos clientes </a:t>
            </a:r>
            <a:r>
              <a:rPr lang="pt-BR" sz="1400"/>
              <a:t>possuírem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algum entendimento de UML</a:t>
            </a:r>
            <a:endParaRPr sz="1400"/>
          </a:p>
          <a:p>
            <a:pPr indent="-228600" lvl="0" marL="342900" marR="0" rtl="0" algn="l"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"/>
          <p:cNvSpPr txBox="1"/>
          <p:nvPr>
            <p:ph type="title"/>
          </p:nvPr>
        </p:nvSpPr>
        <p:spPr>
          <a:xfrm>
            <a:off x="1000100" y="178575"/>
            <a:ext cx="7943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0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de ferramentas da UML:</a:t>
            </a:r>
            <a:br>
              <a:rPr b="0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(Casos de Uso)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tacionamento.png" id="294" name="Google Shape;294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7356" y="1671505"/>
            <a:ext cx="7038900" cy="38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1"/>
          <p:cNvSpPr txBox="1"/>
          <p:nvPr>
            <p:ph idx="12" type="sldNum"/>
          </p:nvPr>
        </p:nvSpPr>
        <p:spPr>
          <a:xfrm>
            <a:off x="8001024" y="5410749"/>
            <a:ext cx="1062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"/>
          <p:cNvSpPr txBox="1"/>
          <p:nvPr>
            <p:ph type="title"/>
          </p:nvPr>
        </p:nvSpPr>
        <p:spPr>
          <a:xfrm>
            <a:off x="1000100" y="178575"/>
            <a:ext cx="7943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0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de ferramentas da UML:</a:t>
            </a:r>
            <a:br>
              <a:rPr b="0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39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Classes</a:t>
            </a:r>
            <a:endParaRPr b="1" i="0" sz="3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assificado-na-web-diagrama-de-classe.png" id="301" name="Google Shape;301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106" y="1190613"/>
            <a:ext cx="76392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2"/>
          <p:cNvSpPr txBox="1"/>
          <p:nvPr>
            <p:ph idx="12" type="sldNum"/>
          </p:nvPr>
        </p:nvSpPr>
        <p:spPr>
          <a:xfrm>
            <a:off x="8001024" y="5410749"/>
            <a:ext cx="1062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3"/>
          <p:cNvSpPr txBox="1"/>
          <p:nvPr>
            <p:ph type="title"/>
          </p:nvPr>
        </p:nvSpPr>
        <p:spPr>
          <a:xfrm>
            <a:off x="928662" y="416702"/>
            <a:ext cx="25719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de </a:t>
            </a:r>
            <a:b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ferramentas </a:t>
            </a:r>
            <a:b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UML:</a:t>
            </a:r>
            <a:b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</a:t>
            </a:r>
            <a:b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Seqüência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aDeSequenciaAtendimentoPresencial.png" id="308" name="Google Shape;308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5332" y="29343"/>
            <a:ext cx="5536500" cy="56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3"/>
          <p:cNvSpPr txBox="1"/>
          <p:nvPr>
            <p:ph idx="12" type="sldNum"/>
          </p:nvPr>
        </p:nvSpPr>
        <p:spPr>
          <a:xfrm>
            <a:off x="8001024" y="5410749"/>
            <a:ext cx="1062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