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slide" Target="slides/slide4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 b="0" i="0" sz="3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28736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Char char="❖"/>
              <a:defRPr b="0" i="0" sz="3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600"/>
              </a:spcBef>
              <a:spcAft>
                <a:spcPts val="0"/>
              </a:spcAft>
              <a:buSzPts val="2600"/>
              <a:buFont typeface="Noto Sans Symbols"/>
              <a:buChar char="▪"/>
              <a:defRPr b="0" i="0" sz="26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spcBef>
                <a:spcPts val="600"/>
              </a:spcBef>
              <a:spcAft>
                <a:spcPts val="0"/>
              </a:spcAft>
              <a:buSzPts val="2200"/>
              <a:buFont typeface="Arial"/>
              <a:buChar char="•"/>
              <a:defRPr b="0" i="0" sz="22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 b="0" i="0" sz="18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b="0" i="0" sz="20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b="0" i="0" sz="20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b="0" i="0" sz="20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»"/>
              <a:defRPr b="0" i="0" sz="20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7200" y="1428736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0" type="dt"/>
          </p:nvPr>
        </p:nvSpPr>
        <p:spPr>
          <a:xfrm>
            <a:off x="457200" y="6400800"/>
            <a:ext cx="2667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382000" y="6553200"/>
            <a:ext cx="685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47687" y="21431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17" name="Google Shape;17;p3"/>
          <p:cNvSpPr txBox="1"/>
          <p:nvPr/>
        </p:nvSpPr>
        <p:spPr>
          <a:xfrm>
            <a:off x="0" y="0"/>
            <a:ext cx="4683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9" name="Google Shape;19;p3"/>
          <p:cNvSpPr txBox="1"/>
          <p:nvPr/>
        </p:nvSpPr>
        <p:spPr>
          <a:xfrm>
            <a:off x="457200" y="1276200"/>
            <a:ext cx="8382000" cy="5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ight horizontal" id="34" name="Google Shape;34;p7"/>
          <p:cNvSpPr txBox="1"/>
          <p:nvPr/>
        </p:nvSpPr>
        <p:spPr>
          <a:xfrm>
            <a:off x="0" y="0"/>
            <a:ext cx="4683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468312" y="152400"/>
            <a:ext cx="7761300" cy="990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457200" y="1295400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468312" y="152400"/>
            <a:ext cx="7761300" cy="106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547687" y="21431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57200" y="6400800"/>
            <a:ext cx="2667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382000" y="6553200"/>
            <a:ext cx="685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8.jp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Definição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Algumas aplicações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Um pouco de história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Sistemas de Arquivos x Banco de Dados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SGBD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Características de banco de dados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Atores em cena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Trabalhadores dos bastidores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Vantagens de usar a abordagem de SGBD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Uma breve história das aplicações de banco de dados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Arquiteturas de um SGBD</a:t>
            </a:r>
            <a:endParaRPr/>
          </a:p>
          <a:p>
            <a:pPr indent="-466725" lvl="0" marL="466725" marR="0" rtl="0" algn="l">
              <a:lnSpc>
                <a:spcPct val="80000"/>
              </a:lnSpc>
              <a:spcBef>
                <a:spcPts val="104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0" i="0" lang="en-US" sz="2200" u="none" cap="none" strike="noStrike">
                <a:latin typeface="Calibri"/>
                <a:ea typeface="Calibri"/>
                <a:cs typeface="Calibri"/>
                <a:sym typeface="Calibri"/>
              </a:rPr>
              <a:t>Quando não usar um SGBD</a:t>
            </a:r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Tópicos</a:t>
            </a:r>
            <a:endParaRPr/>
          </a:p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 de dados relacionados.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Fatos conhecidos que podem ser registrados e possuem significado implícito.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 algum aspecto do mundo real.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 logicamente coerente de dados com algum significado inerente.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Construído para uma finalidade específica.</a:t>
            </a:r>
            <a:endParaRPr>
              <a:solidFill>
                <a:schemeClr val="dk1"/>
              </a:solidFill>
            </a:endParaRPr>
          </a:p>
          <a:p>
            <a:pPr indent="-177800" lvl="0" marL="342900" marR="0" rtl="0" algn="l">
              <a:spcBef>
                <a:spcPts val="1120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0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0" lang="en-US" sz="3200" u="none"/>
              <a:t>Definição</a:t>
            </a:r>
            <a:endParaRPr/>
          </a:p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de banco de dados tradicionais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 informações textuais ou numéricas.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Bancos de dados de multimídia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 imagens, clipes de áudio e streams de vídeo digitalmente.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informações geográficas (GIS)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 e analisa mapas, dados sobre o clima e imagens de satélite.</a:t>
            </a:r>
            <a:endParaRPr/>
          </a:p>
        </p:txBody>
      </p:sp>
      <p:sp>
        <p:nvSpPr>
          <p:cNvPr id="63" name="Google Shape;63;p11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Algumas aplicações</a:t>
            </a:r>
            <a:endParaRPr/>
          </a:p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data warehousing e de processamento analítico on-line (OLAP)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Extrair e analisar informações comerciais úteis de bancos de dados muito grandes.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Ajuda na tomada de decisão.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Tecnologia de tempo real e banco de dados ativo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Controla processos industriais e de manufatura.</a:t>
            </a:r>
            <a:endParaRPr/>
          </a:p>
        </p:txBody>
      </p:sp>
      <p:sp>
        <p:nvSpPr>
          <p:cNvPr id="70" name="Google Shape;70;p12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Algumas aplicações (cont.)</a:t>
            </a:r>
            <a:endParaRPr/>
          </a:p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primeiro banco de dados teve início nas décadas de 60 e 70 na IBM, com pesquisas em automação de tarefas de escritório.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Naquela época, tinha-se que ter muita gente ($$$) para armazenar e indexar os arquivos.</a:t>
            </a:r>
            <a:endParaRPr>
              <a:solidFill>
                <a:schemeClr val="accent2"/>
              </a:solidFill>
            </a:endParaRPr>
          </a:p>
          <a:p>
            <a:pPr indent="-466725" lvl="0" marL="466725" marR="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1970 um pesquisador da IBM - Ted Codd publicou o primeiro artigo sobre bancos de dados relacionais. Este artigo tratava sobre uma forma de consultar os dados (em tabelas) por meio de comandos.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 pouco de história</a:t>
            </a:r>
            <a:endParaRPr/>
          </a:p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Inicialmente, por ser muito complexo, não foi aceito nem implantado.</a:t>
            </a:r>
            <a:endParaRPr>
              <a:solidFill>
                <a:schemeClr val="dk1"/>
              </a:solidFill>
            </a:endParaRPr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IBM criou um grupo de pesquisa chamado System R, com o objetivo de desenvolver um sistema de BD para ser comercializado.</a:t>
            </a:r>
            <a:endParaRPr>
              <a:solidFill>
                <a:schemeClr val="dk1"/>
              </a:solidFill>
            </a:endParaRPr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 introduziu uma linguagem chamada Structured Query Language (SQL).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 pouco de história</a:t>
            </a:r>
            <a:endParaRPr/>
          </a:p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linguagem tornou-se padrão internacional para BD relacional.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System R passou a se chamar SQL/DS.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SQL/DS evoluiu para DB2, que é o banco de dados comercial da IBM.</a:t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 pouco de história</a:t>
            </a:r>
            <a:endParaRPr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Sistemas de Arquivos: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FAT32, NTFS, Ext2, Ext</a:t>
            </a:r>
            <a:r>
              <a:rPr lang="en-US">
                <a:solidFill>
                  <a:srgbClr val="00B0F0"/>
                </a:solidFill>
              </a:rPr>
              <a:t>4</a:t>
            </a: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ReiserFS....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Bancos de Dados: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MySQL, SQL Server, Firebird, Postegres, DB2, Oracle...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Ambos tem um objetivo em comum: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Armazenar dados em sistemas de computação.</a:t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Banco de Dados</a:t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Arquivos</a:t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Banco de Dados</a:t>
            </a:r>
            <a:endParaRPr>
              <a:highlight>
                <a:srgbClr val="000000"/>
              </a:highlight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209800"/>
            <a:ext cx="422910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❖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Arquivos</a:t>
            </a:r>
            <a:endParaRPr>
              <a:solidFill>
                <a:schemeClr val="dk1"/>
              </a:solidFill>
            </a:endParaRPr>
          </a:p>
          <a:p>
            <a:pPr indent="-285749" lvl="1" marL="827087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manutenção é prejudicada pois a estrutura de arquivos é definida e padronizada no próprio código do aplicativo (Cobol, Clipper, etc);</a:t>
            </a:r>
            <a:endParaRPr>
              <a:solidFill>
                <a:schemeClr val="accent2"/>
              </a:solidFill>
            </a:endParaRPr>
          </a:p>
          <a:p>
            <a:pPr indent="-285749" lvl="1" marL="827087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 compartilhamento de um arquivo por vários programas apresenta dificuldades para gerenciar o acesso a esses arquivos e seu controle;</a:t>
            </a:r>
            <a:endParaRPr>
              <a:solidFill>
                <a:schemeClr val="accent2"/>
              </a:solidFill>
            </a:endParaRPr>
          </a:p>
          <a:p>
            <a:pPr indent="-285749" lvl="1" marL="827087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 desenvolvimento de arquivos e programas de um mesmo SO é realizado isoladamente por programadores e linguagens diferentes, causando incompatibilidades no sistema;</a:t>
            </a:r>
            <a:endParaRPr>
              <a:solidFill>
                <a:schemeClr val="accent2"/>
              </a:solidFill>
            </a:endParaRPr>
          </a:p>
          <a:p>
            <a:pPr indent="-285749" lvl="1" marL="827087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falta de gerenciamento de acessos concorrentes aos dados e recuperação de dados.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Banco de Dados</a:t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/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Banco de Dados</a:t>
            </a:r>
            <a:endParaRPr/>
          </a:p>
        </p:txBody>
      </p:sp>
      <p:grpSp>
        <p:nvGrpSpPr>
          <p:cNvPr id="121" name="Google Shape;121;p19"/>
          <p:cNvGrpSpPr/>
          <p:nvPr/>
        </p:nvGrpSpPr>
        <p:grpSpPr>
          <a:xfrm>
            <a:off x="1585912" y="2254250"/>
            <a:ext cx="5972175" cy="4222750"/>
            <a:chOff x="0" y="0"/>
            <a:chExt cx="2147483647" cy="2147483647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147483647" cy="21474836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9"/>
            <p:cNvSpPr txBox="1"/>
            <p:nvPr/>
          </p:nvSpPr>
          <p:spPr>
            <a:xfrm>
              <a:off x="936741089" y="907432904"/>
              <a:ext cx="274001107" cy="271261115"/>
            </a:xfrm>
            <a:prstGeom prst="rect">
              <a:avLst/>
            </a:prstGeom>
            <a:noFill/>
            <a:ln cap="flat" cmpd="sng" w="25400">
              <a:solidFill>
                <a:srgbClr val="0E173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450" y="466725"/>
            <a:ext cx="4737100" cy="6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382000" y="6553200"/>
            <a:ext cx="685800" cy="2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Noto Sans Symbols"/>
              <a:buChar char="❖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Rapidez no acesso às informações presentes no Banco de Dados;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Redução de problemas de integridade e redundância;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Diminuição do esforço humano no desenvolvimento;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Utilização dos dados e controle integrado de informações distribuídas fisicamente.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Descreve uma coleção lógica e coerente de dados com algum significado inerente. Uma organização randômica de dados não pode ser considerada um Banco de Dados;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Constrói em atendimento a uma proposta específica.</a:t>
            </a:r>
            <a:endParaRPr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Banco de Dados</a:t>
            </a:r>
            <a:endParaRPr/>
          </a:p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de arquivo tradicional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Cada usuário define e implementa os arquivos necessários para uma aplicação de software específica.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Abordagem de Banco de Dados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Um único repositório mantém dados que são definidos uma vez e depois acessados por vários usuários.</a:t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Sistema de Arquivos vs. 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Banco de Dados</a:t>
            </a:r>
            <a:endParaRPr/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istema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erenciador de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anco de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ados é um conjunto de programas e ferramentas utilizadas para configurar, atualizar e manter um banco de dados.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Recursos para administrar usuários/permissões.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Recursos para criar/alterar tabelas e banco de dados.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Recursos para backup e restauração de dados.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Recursos para otimizar a performance do banco.</a:t>
            </a:r>
            <a:endParaRPr/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O que é um SGBD?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Alguns SGBDs</a:t>
            </a:r>
            <a:endParaRPr/>
          </a:p>
        </p:txBody>
      </p:sp>
      <p:pic>
        <p:nvPicPr>
          <p:cNvPr descr="http://www.oracleimg.com/us/assets/oralogo-small.gif"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75" y="1504950"/>
            <a:ext cx="281463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ybase Business Intelligence Solutions - Database Management, Data Warehousing Software, Mobile Enterprise Applications and Messaging" id="158" name="Google Shape;1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4112" y="2870200"/>
            <a:ext cx="2928937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5514975" y="3716337"/>
            <a:ext cx="18272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www.sybase.com.br/</a:t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1519237" y="1905000"/>
            <a:ext cx="15287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www.oracle.com</a:t>
            </a:r>
            <a:endParaRPr/>
          </a:p>
        </p:txBody>
      </p:sp>
      <p:pic>
        <p:nvPicPr>
          <p:cNvPr descr="http://lh3.ggpht.com/_uU5cLRayUdQ/SkW0WF3dydI/AAAAAAAABsE/1kkwEIcahtM/IBM-DB2-logo.jpg" id="161" name="Google Shape;161;p24"/>
          <p:cNvPicPr preferRelativeResize="0"/>
          <p:nvPr/>
        </p:nvPicPr>
        <p:blipFill rotWithShape="1">
          <a:blip r:embed="rId5">
            <a:alphaModFix/>
          </a:blip>
          <a:srcRect b="26400" l="0" r="0" t="26133"/>
          <a:stretch/>
        </p:blipFill>
        <p:spPr>
          <a:xfrm>
            <a:off x="4556125" y="1314450"/>
            <a:ext cx="3228975" cy="76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4851400" y="2078037"/>
            <a:ext cx="30797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www-01.ibm.com/software/data/db2/</a:t>
            </a:r>
            <a:endParaRPr/>
          </a:p>
        </p:txBody>
      </p:sp>
      <p:pic>
        <p:nvPicPr>
          <p:cNvPr descr="Firebird is used by approximately 1 million of software developers worldwide." id="163" name="Google Shape;16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387" y="2924175"/>
            <a:ext cx="271462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1447800" y="3810000"/>
            <a:ext cx="174783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www.firebirdsql.org/</a:t>
            </a:r>
            <a:endParaRPr/>
          </a:p>
        </p:txBody>
      </p:sp>
      <p:pic>
        <p:nvPicPr>
          <p:cNvPr descr="PostgreSQL" id="165" name="Google Shape;16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9737" y="4438650"/>
            <a:ext cx="2190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5716587" y="5303837"/>
            <a:ext cx="17970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www.postgresql.org/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5700" y="4438650"/>
            <a:ext cx="2500312" cy="8112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/>
        </p:nvSpPr>
        <p:spPr>
          <a:xfrm>
            <a:off x="544512" y="5303837"/>
            <a:ext cx="40116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www.microsoft.com/sqlserver/en/us/default.aspx</a:t>
            </a:r>
            <a:endParaRPr/>
          </a:p>
        </p:txBody>
      </p:sp>
      <p:pic>
        <p:nvPicPr>
          <p:cNvPr descr="MySQL" id="169" name="Google Shape;169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68762" y="5867400"/>
            <a:ext cx="1566862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 txBox="1"/>
          <p:nvPr/>
        </p:nvSpPr>
        <p:spPr>
          <a:xfrm>
            <a:off x="5635625" y="6273800"/>
            <a:ext cx="151923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www.mysql.com/</a:t>
            </a:r>
            <a:endParaRPr/>
          </a:p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Verdana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Natureza de autodescrição de um sistema de banco de dados.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Verdana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Isolamento entre programas e dados, e abstração de dados.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Verdana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de múltiplas visões dos dados.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Verdana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Compartilhamento de dados e processamento de transação multiusuário.</a:t>
            </a:r>
            <a:endParaRPr/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Principais características 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de banco de dados </a:t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sistema de banco de dados contém definição completa de sua estrutura e restrições.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Metadados, que descreve a estrutura do banco de dados.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catálogo é usado pelo: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Software de SGBD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Usuários do banco de dados que precisam de informações sobre a estrutura do banco de dados.</a:t>
            </a:r>
            <a:endParaRPr/>
          </a:p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b="1" i="0" lang="en-US" sz="2900" u="none">
                <a:latin typeface="Arial"/>
                <a:ea typeface="Arial"/>
                <a:cs typeface="Arial"/>
                <a:sym typeface="Arial"/>
              </a:rPr>
              <a:t>1. Natureza de autodescrição de</a:t>
            </a:r>
            <a:br>
              <a:rPr b="1" i="0" lang="en-US" sz="29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900" u="none">
                <a:latin typeface="Arial"/>
                <a:ea typeface="Arial"/>
                <a:cs typeface="Arial"/>
                <a:sym typeface="Arial"/>
              </a:rPr>
              <a:t>um sistema de banco de dados</a:t>
            </a:r>
            <a:endParaRPr/>
          </a:p>
        </p:txBody>
      </p: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7"/>
          <p:cNvPicPr preferRelativeResize="0"/>
          <p:nvPr/>
        </p:nvPicPr>
        <p:blipFill rotWithShape="1">
          <a:blip r:embed="rId3">
            <a:alphaModFix/>
          </a:blip>
          <a:srcRect b="10873" l="0" r="0" t="2147"/>
          <a:stretch/>
        </p:blipFill>
        <p:spPr>
          <a:xfrm>
            <a:off x="4343400" y="1233487"/>
            <a:ext cx="4122737" cy="562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192087"/>
            <a:ext cx="2667000" cy="663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382000" y="6553200"/>
            <a:ext cx="685800" cy="2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Independência de dados do programa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 estrutura dos arquivos de dados é armazenada no catálogo do SGBD separadamente dos programas de acesso (cliente).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Independência da operação do programa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Uma operação é especificada em duas partes: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interface de uma operação inclui o nome da operação e os tipos de dados de seus argumentos.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implementação da operação pode ser alterada sem afetar a interface.</a:t>
            </a:r>
            <a:endParaRPr/>
          </a:p>
        </p:txBody>
      </p:sp>
      <p:sp>
        <p:nvSpPr>
          <p:cNvPr id="198" name="Google Shape;198;p28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2. Isolamento entre programas e dados</a:t>
            </a:r>
            <a:endParaRPr/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Abstração de dados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Permite a independência de dados do programa e a independência da operação do programa.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Se adicionar um campo na tabela, na próxima consulta aquele dado já estará disponível.</a:t>
            </a:r>
            <a:endParaRPr/>
          </a:p>
          <a:p>
            <a:pPr indent="-466725" lvl="0" marL="466725" marR="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 conceitual de dados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Através do Diagrama </a:t>
            </a:r>
            <a:r>
              <a:rPr lang="en-US">
                <a:solidFill>
                  <a:srgbClr val="00B0F0"/>
                </a:solidFill>
              </a:rPr>
              <a:t>ER</a:t>
            </a: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Não inclui detalhes de como os dados são armazenados ou como as operações são implementadas.</a:t>
            </a:r>
            <a:endParaRPr/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3. Abstração de dados</a:t>
            </a:r>
            <a:endParaRPr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Subconjunto do banco de dados.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Contém dados virtuais derivado dos arquivos do banco de dados, mas que não estão armazenados da forma que são visualizados.</a:t>
            </a:r>
            <a:endParaRPr/>
          </a:p>
        </p:txBody>
      </p:sp>
      <p:sp>
        <p:nvSpPr>
          <p:cNvPr id="212" name="Google Shape;212;p30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b="1" i="0" lang="en-US" sz="2900" u="none">
                <a:latin typeface="Arial"/>
                <a:ea typeface="Arial"/>
                <a:cs typeface="Arial"/>
                <a:sym typeface="Arial"/>
              </a:rPr>
              <a:t>4. Suporte para múltiplas visões dos dados</a:t>
            </a:r>
            <a:endParaRPr/>
          </a:p>
        </p:txBody>
      </p:sp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que múltiplos usuários acessem o banco de dados ao mesmo tempo.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 controle de concorrência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Garante que vários usuários tentando atualizar o mesmo dado faça isso de uma maneira controlada, r</a:t>
            </a:r>
            <a:r>
              <a:rPr b="0" i="0" lang="en-US" sz="26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esultado dessas atualizações seja correto.</a:t>
            </a:r>
            <a:endParaRPr/>
          </a:p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rPr b="1" i="0" lang="en-US" sz="2600" u="none">
                <a:latin typeface="Arial"/>
                <a:ea typeface="Arial"/>
                <a:cs typeface="Arial"/>
                <a:sym typeface="Arial"/>
              </a:rPr>
              <a:t>5. Compartilhamento de dados </a:t>
            </a:r>
            <a:br>
              <a:rPr b="1" i="0" lang="en-US" sz="26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>
                <a:latin typeface="Arial"/>
                <a:ea typeface="Arial"/>
                <a:cs typeface="Arial"/>
                <a:sym typeface="Arial"/>
              </a:rPr>
              <a:t>e processamento de transação multiusuário</a:t>
            </a:r>
            <a:endParaRPr/>
          </a:p>
        </p:txBody>
      </p:sp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Transação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Programa em execução ou processo que inclui um ou mais acessos ao banco de dados.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Propriedade de isolamento: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transação parece executar isoladamente das outras transações.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Propriedade de atomicidade: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operações em uma transação são executadas ou nenhuma será.</a:t>
            </a:r>
            <a:endParaRPr/>
          </a:p>
        </p:txBody>
      </p:sp>
      <p:sp>
        <p:nvSpPr>
          <p:cNvPr id="226" name="Google Shape;226;p32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>
                <a:latin typeface="Arial"/>
                <a:ea typeface="Arial"/>
                <a:cs typeface="Arial"/>
                <a:sym typeface="Arial"/>
              </a:rPr>
              <a:t>5. Compartilhamento de dados </a:t>
            </a:r>
            <a:br>
              <a:rPr b="1" i="0" lang="en-US" sz="24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latin typeface="Arial"/>
                <a:ea typeface="Arial"/>
                <a:cs typeface="Arial"/>
                <a:sym typeface="Arial"/>
              </a:rPr>
              <a:t>e processamento de transação multiusuário (cont.)</a:t>
            </a:r>
            <a:endParaRPr/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de banco de dados (DBA) é responsável por: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Autorizar o acesso ao banco de dados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Coordenar e monitorar seu uso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Adquirir recursos de software e hardware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Projetistas de banco de dados são responsáveis por: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Identificar os dados a serem armazenados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Escolher estruturas apropriadas para representar e armazenar esses dados</a:t>
            </a:r>
            <a:endParaRPr/>
          </a:p>
        </p:txBody>
      </p:sp>
      <p:sp>
        <p:nvSpPr>
          <p:cNvPr id="233" name="Google Shape;233;p33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Atores em cena</a:t>
            </a:r>
            <a:endParaRPr/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Analistas de sistemas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Identificam as necessidades dos usuários finais.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Programadores de aplicações 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Implementam essas especificações como programas.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 finais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Pessoas cujas funções exigem acesso ao banco de dados.</a:t>
            </a:r>
            <a:endParaRPr/>
          </a:p>
        </p:txBody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Atores em cena (cont.)</a:t>
            </a:r>
            <a:endParaRPr/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Projetistas e implementadores de sistema de SGBD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Projetam e implementam os módulos e as interfaces do SGBD como um pacote de software.</a:t>
            </a:r>
            <a:endParaRPr/>
          </a:p>
          <a:p>
            <a:pPr indent="-466725" lvl="0" marL="466725" marR="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Desenvolvedores de ferramentas 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Projetam e implantam ferramentas.</a:t>
            </a:r>
            <a:endParaRPr/>
          </a:p>
          <a:p>
            <a:pPr indent="-466725" lvl="0" marL="466725" marR="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Operadores e pessoal de manutenção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Responsáveis pela execução e manutenção do ambiente de hardware e software para o sistema de banco de dados.</a:t>
            </a:r>
            <a:endParaRPr/>
          </a:p>
        </p:txBody>
      </p:sp>
      <p:sp>
        <p:nvSpPr>
          <p:cNvPr id="247" name="Google Shape;247;p35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Trabalhadores dos bastidores</a:t>
            </a:r>
            <a:endParaRPr/>
          </a:p>
        </p:txBody>
      </p:sp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Controlando a redundância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Normalização de dados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Restringindo o acesso não autorizado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Subsistema de segurança e autorização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Software privilegiado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Oferecer armazenamento persistente para objetos do programa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Objeto complexo em C++ pode ser armazenado de forma permanente em um SGBD orientado a objeto</a:t>
            </a:r>
            <a:endParaRPr/>
          </a:p>
        </p:txBody>
      </p:sp>
      <p:sp>
        <p:nvSpPr>
          <p:cNvPr id="254" name="Google Shape;254;p36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</a:t>
            </a:r>
            <a:endParaRPr/>
          </a:p>
        </p:txBody>
      </p:sp>
      <p:sp>
        <p:nvSpPr>
          <p:cNvPr id="255" name="Google Shape;255;p3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Oferecendo estruturas de armazenamento e técnicas de pesquisa para o processamento eficiente de consulta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Índices.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Buffering ou caching.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Processamento e otimização de consulta.</a:t>
            </a:r>
            <a:endParaRPr/>
          </a:p>
        </p:txBody>
      </p:sp>
      <p:sp>
        <p:nvSpPr>
          <p:cNvPr id="261" name="Google Shape;261;p37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 (cont.)</a:t>
            </a:r>
            <a:endParaRPr/>
          </a:p>
        </p:txBody>
      </p:sp>
      <p:sp>
        <p:nvSpPr>
          <p:cNvPr id="262" name="Google Shape;262;p3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Oferecendo backup e recuperação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Subsistema de backup e recuperação de SGBD é responsável pela recuperação.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Oferecendo múltiplas interfaces do usuário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Interfaces gráficas do usuário (GUIs).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Representando relacionamentos complexos entre dados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Pode incluir muitas variedades de dados que estão inter-relacionados de diversas maneiras.</a:t>
            </a:r>
            <a:endParaRPr/>
          </a:p>
        </p:txBody>
      </p:sp>
      <p:sp>
        <p:nvSpPr>
          <p:cNvPr id="268" name="Google Shape;268;p38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 (cont.)</a:t>
            </a:r>
            <a:endParaRPr/>
          </a:p>
        </p:txBody>
      </p:sp>
      <p:sp>
        <p:nvSpPr>
          <p:cNvPr id="269" name="Google Shape;269;p3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Impondo restrições de integridade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Restrição de integridade referencial.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registro de turma deve estar relacionado a um registro de disciplina.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Restrição de chave ou singularidade.	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registro de tabela deve ter um código único.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Regras de negócio.</a:t>
            </a:r>
            <a:endParaRPr/>
          </a:p>
        </p:txBody>
      </p:sp>
      <p:sp>
        <p:nvSpPr>
          <p:cNvPr id="275" name="Google Shape;275;p39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 (cont.)</a:t>
            </a:r>
            <a:endParaRPr/>
          </a:p>
        </p:txBody>
      </p:sp>
      <p:sp>
        <p:nvSpPr>
          <p:cNvPr id="276" name="Google Shape;276;p3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ações usando regras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Gatilhos (Triggers)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 ativada por atualizações na tabela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Procedimentos armazenados (Stored Procedures)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Procedimentos mais elaborados para impor regras</a:t>
            </a:r>
            <a:endParaRPr/>
          </a:p>
        </p:txBody>
      </p:sp>
      <p:sp>
        <p:nvSpPr>
          <p:cNvPr id="282" name="Google Shape;282;p40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 (cont.)</a:t>
            </a:r>
            <a:endParaRPr/>
          </a:p>
        </p:txBody>
      </p:sp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Implicações adicionais do uso da abordagem de banco de dados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Tempo reduzido para desenvolvimento de aplicação.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Flexibilidade (adequar às novas necessidades).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Disponibilidade de informações atualizadas.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Economias de escala.</a:t>
            </a:r>
            <a:endParaRPr/>
          </a:p>
        </p:txBody>
      </p:sp>
      <p:sp>
        <p:nvSpPr>
          <p:cNvPr id="289" name="Google Shape;289;p41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Vantagens de usar a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abordagem de SGBD (cont.)</a:t>
            </a:r>
            <a:endParaRPr/>
          </a:p>
        </p:txBody>
      </p:sp>
      <p:sp>
        <p:nvSpPr>
          <p:cNvPr id="290" name="Google Shape;290;p4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Noto Sans Symbols"/>
              <a:buChar char="❖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Antigas aplicações de banco de dados usando sistemas hierárquicos e de rede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Grande quantidade de registros com estrutura semelhante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Eram implantados em mainframes ($$$) e usavam códigos complexos para consulta.</a:t>
            </a:r>
            <a:endParaRPr/>
          </a:p>
          <a:p>
            <a:pPr indent="-466725" lvl="0" marL="4667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Noto Sans Symbols"/>
              <a:buChar char="❖"/>
            </a:pPr>
            <a:r>
              <a:rPr b="0" i="0" lang="en-US" sz="3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Oferecer abstração de dados e flexibilidade de aplicação com bancos de dados relacionais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Separa o armazenamento físico dos dados de sua representação conceitual.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Utiliza uma linguagem mais simples e de alto nível (SQL).</a:t>
            </a:r>
            <a:endParaRPr/>
          </a:p>
        </p:txBody>
      </p:sp>
      <p:sp>
        <p:nvSpPr>
          <p:cNvPr id="296" name="Google Shape;296;p42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Uma breve história das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aplicações de banco de dados</a:t>
            </a:r>
            <a:endParaRPr/>
          </a:p>
        </p:txBody>
      </p:sp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orientadas a objeto e a necessidade de bancos de dados mais complexos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Inicialmente, era um potencial substituto dos bancos de dados relacionais.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Falta de padronização e complexidade contribuíram para este tipo de banco perder o mercado.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Hoje existem camadas de software que implementam a Orientação a Objetos no banco de dados relacional.</a:t>
            </a:r>
            <a:endParaRPr/>
          </a:p>
          <a:p>
            <a:pPr indent="-228599" lvl="2" marL="1141412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 Entity Framework, Hibernate, Nhibernate.</a:t>
            </a:r>
            <a:endParaRPr/>
          </a:p>
        </p:txBody>
      </p:sp>
      <p:sp>
        <p:nvSpPr>
          <p:cNvPr id="303" name="Google Shape;303;p43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Uma breve história das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aplicações de banco de dados</a:t>
            </a:r>
            <a:endParaRPr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Intercâmbio de dados na Web para comércio eletrônico usando XML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eXtended Markup Language (XML) é considerada o principal padrão para intercâmbio entre diversos tipos de bancos de dados e páginas Web</a:t>
            </a:r>
            <a:endParaRPr/>
          </a:p>
        </p:txBody>
      </p:sp>
      <p:sp>
        <p:nvSpPr>
          <p:cNvPr id="310" name="Google Shape;310;p44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Uma breve história das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aplicações de banco de dados</a:t>
            </a:r>
            <a:endParaRPr/>
          </a:p>
        </p:txBody>
      </p:sp>
      <p:sp>
        <p:nvSpPr>
          <p:cNvPr id="311" name="Google Shape;311;p4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Estendendo as capacidades do banco de dados para novas aplicações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Aplicações científicas.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Armazenamento de imagens.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Armazenamento de videos.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Data Mining (an</a:t>
            </a:r>
            <a:r>
              <a:rPr lang="en-US">
                <a:solidFill>
                  <a:srgbClr val="00B0F0"/>
                </a:solidFill>
              </a:rPr>
              <a:t>a</a:t>
            </a: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lisa e busca padrões em grandes massas de dados)</a:t>
            </a:r>
            <a:endParaRPr/>
          </a:p>
        </p:txBody>
      </p:sp>
      <p:sp>
        <p:nvSpPr>
          <p:cNvPr id="317" name="Google Shape;317;p45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Uma breve história das</a:t>
            </a:r>
            <a:br>
              <a:rPr b="1" i="0" lang="en-US" sz="3200" u="none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aplicações de banco de dados</a:t>
            </a:r>
            <a:endParaRPr/>
          </a:p>
        </p:txBody>
      </p:sp>
      <p:sp>
        <p:nvSpPr>
          <p:cNvPr id="318" name="Google Shape;318;p4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Plataformas Centralizadas: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Um computador de grande porte que é o hospedeiro do SGBD e o emulador para os aplicativos.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Possui alto custo, e alto poder de processamento.</a:t>
            </a:r>
            <a:endParaRPr/>
          </a:p>
        </p:txBody>
      </p:sp>
      <p:sp>
        <p:nvSpPr>
          <p:cNvPr id="324" name="Google Shape;324;p46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Arquiteturas de um SGBD</a:t>
            </a:r>
            <a:endParaRPr/>
          </a:p>
        </p:txBody>
      </p:sp>
      <p:pic>
        <p:nvPicPr>
          <p:cNvPr id="325" name="Google Shape;32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212" y="3530600"/>
            <a:ext cx="4473575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Computador Pessoal: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 computador pessoal é o hospedeiro do SGBD e o cliente ao mesmo tempo.</a:t>
            </a:r>
            <a:endParaRPr/>
          </a:p>
        </p:txBody>
      </p:sp>
      <p:sp>
        <p:nvSpPr>
          <p:cNvPr id="332" name="Google Shape;332;p47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Arquiteturas de um SGBD</a:t>
            </a:r>
            <a:endParaRPr/>
          </a:p>
        </p:txBody>
      </p:sp>
      <p:pic>
        <p:nvPicPr>
          <p:cNvPr id="333" name="Google Shape;33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3657600"/>
            <a:ext cx="5657850" cy="109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Cliente-Servidor: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 cliente executa as tarefas do aplicativo (interface gráfica), e o servidor executa o SGBD.</a:t>
            </a:r>
            <a:endParaRPr/>
          </a:p>
        </p:txBody>
      </p:sp>
      <p:sp>
        <p:nvSpPr>
          <p:cNvPr id="340" name="Google Shape;340;p48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>
                <a:latin typeface="Arial"/>
                <a:ea typeface="Arial"/>
                <a:cs typeface="Arial"/>
                <a:sym typeface="Arial"/>
              </a:rPr>
              <a:t>Arquiteturas de um SGBD</a:t>
            </a:r>
            <a:endParaRPr/>
          </a:p>
        </p:txBody>
      </p:sp>
      <p:pic>
        <p:nvPicPr>
          <p:cNvPr id="341" name="Google Shape;3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3587" y="3048000"/>
            <a:ext cx="50768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Cliente-Servidor </a:t>
            </a:r>
            <a:r>
              <a:rPr b="0" i="1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camadas: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Acrescenta uma camada (Aplicação) entre o cliente e o banco de dados.</a:t>
            </a:r>
            <a:endParaRPr/>
          </a:p>
        </p:txBody>
      </p:sp>
      <p:sp>
        <p:nvSpPr>
          <p:cNvPr id="348" name="Google Shape;348;p49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Arquiteturas de um SGBD</a:t>
            </a:r>
            <a:endParaRPr/>
          </a:p>
        </p:txBody>
      </p:sp>
      <p:grpSp>
        <p:nvGrpSpPr>
          <p:cNvPr id="349" name="Google Shape;349;p49"/>
          <p:cNvGrpSpPr/>
          <p:nvPr/>
        </p:nvGrpSpPr>
        <p:grpSpPr>
          <a:xfrm>
            <a:off x="2286000" y="2960687"/>
            <a:ext cx="6354762" cy="3979862"/>
            <a:chOff x="0" y="0"/>
            <a:chExt cx="2147483647" cy="2147483647"/>
          </a:xfrm>
        </p:grpSpPr>
        <p:pic>
          <p:nvPicPr>
            <p:cNvPr id="350" name="Google Shape;350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907087" y="0"/>
              <a:ext cx="530663914" cy="7500521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0734909" y="1032752754"/>
              <a:ext cx="592233449" cy="1070113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204727" y="1032752754"/>
              <a:ext cx="525278919" cy="10627899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3" name="Google Shape;353;p49"/>
            <p:cNvCxnSpPr/>
            <p:nvPr/>
          </p:nvCxnSpPr>
          <p:spPr>
            <a:xfrm>
              <a:off x="386257490" y="750377412"/>
              <a:ext cx="231754336" cy="406025859"/>
            </a:xfrm>
            <a:prstGeom prst="straightConnector1">
              <a:avLst/>
            </a:prstGeom>
            <a:noFill/>
            <a:ln cap="flat" cmpd="sng" w="38100">
              <a:solidFill>
                <a:srgbClr val="446FBA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354" name="Google Shape;354;p49"/>
            <p:cNvCxnSpPr/>
            <p:nvPr/>
          </p:nvCxnSpPr>
          <p:spPr>
            <a:xfrm>
              <a:off x="1133021381" y="1567569386"/>
              <a:ext cx="489259324" cy="0"/>
            </a:xfrm>
            <a:prstGeom prst="straightConnector1">
              <a:avLst/>
            </a:prstGeom>
            <a:noFill/>
            <a:ln cap="flat" cmpd="sng" w="38100">
              <a:solidFill>
                <a:srgbClr val="446FBA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sp>
          <p:nvSpPr>
            <p:cNvPr id="355" name="Google Shape;355;p49"/>
            <p:cNvSpPr txBox="1"/>
            <p:nvPr/>
          </p:nvSpPr>
          <p:spPr>
            <a:xfrm>
              <a:off x="651571025" y="221784763"/>
              <a:ext cx="378400204" cy="199244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Cliente</a:t>
              </a:r>
              <a:endParaRPr/>
            </a:p>
          </p:txBody>
        </p:sp>
        <p:sp>
          <p:nvSpPr>
            <p:cNvPr id="356" name="Google Shape;356;p49"/>
            <p:cNvSpPr txBox="1"/>
            <p:nvPr/>
          </p:nvSpPr>
          <p:spPr>
            <a:xfrm>
              <a:off x="0" y="1649371229"/>
              <a:ext cx="540734902" cy="4981124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Servidor de Aplicação ou Web</a:t>
              </a:r>
              <a:endParaRPr/>
            </a:p>
          </p:txBody>
        </p:sp>
      </p:grpSp>
      <p:sp>
        <p:nvSpPr>
          <p:cNvPr id="357" name="Google Shape;357;p49"/>
          <p:cNvSpPr txBox="1"/>
          <p:nvPr/>
        </p:nvSpPr>
        <p:spPr>
          <a:xfrm>
            <a:off x="7196137" y="4154487"/>
            <a:ext cx="15319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Servidor SGBD</a:t>
            </a:r>
            <a:endParaRPr/>
          </a:p>
        </p:txBody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 distribuídos:</a:t>
            </a:r>
            <a:endParaRPr/>
          </a:p>
          <a:p>
            <a:pPr indent="-285749" lvl="1" marL="827087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 informação está distribuída em diversos servidores espalhados em locais diferentes.</a:t>
            </a:r>
            <a:endParaRPr/>
          </a:p>
        </p:txBody>
      </p:sp>
      <p:sp>
        <p:nvSpPr>
          <p:cNvPr id="364" name="Google Shape;364;p50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Arquiteturas de um SGBD</a:t>
            </a:r>
            <a:endParaRPr/>
          </a:p>
        </p:txBody>
      </p:sp>
      <p:pic>
        <p:nvPicPr>
          <p:cNvPr id="365" name="Google Shape;36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050" y="3362325"/>
            <a:ext cx="52959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idx="1" type="body"/>
          </p:nvPr>
        </p:nvSpPr>
        <p:spPr>
          <a:xfrm>
            <a:off x="457200" y="1428750"/>
            <a:ext cx="83820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66725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Noto Sans Symbols"/>
              <a:buChar char="❖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desejável usar arquivos comuns sob as seguintes circunstâncias: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Aplicações de banco de dados simples e bem definidas, para as quais não se espera muitas mudanças.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Requisitos rigorosos, de tempo real, que podem não ser atendidos devido as operações extras executadas pelo SGBD (programas CAD, etc.).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Sistemas embarcados com capacidade de armazenamento limitada.</a:t>
            </a:r>
            <a:endParaRPr/>
          </a:p>
          <a:p>
            <a:pPr indent="-285749" lvl="1" marL="827087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B0F0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Nenhum acesso de múltiplos usuários aos dados.</a:t>
            </a:r>
            <a:endParaRPr/>
          </a:p>
        </p:txBody>
      </p:sp>
      <p:sp>
        <p:nvSpPr>
          <p:cNvPr id="372" name="Google Shape;372;p51"/>
          <p:cNvSpPr txBox="1"/>
          <p:nvPr>
            <p:ph type="title"/>
          </p:nvPr>
        </p:nvSpPr>
        <p:spPr>
          <a:xfrm>
            <a:off x="627125" y="146062"/>
            <a:ext cx="759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0" lang="en-US" sz="3200" u="none">
                <a:latin typeface="Arial"/>
                <a:ea typeface="Arial"/>
                <a:cs typeface="Arial"/>
                <a:sym typeface="Arial"/>
              </a:rPr>
              <a:t>Quando não usar um SGBD</a:t>
            </a:r>
            <a:endParaRPr/>
          </a:p>
        </p:txBody>
      </p:sp>
      <p:sp>
        <p:nvSpPr>
          <p:cNvPr id="373" name="Google Shape;373;p5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134TGp_report_diagram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Tema1">
  <a:themeElements>
    <a:clrScheme name="134TGp_report_diagram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ema1">
  <a:themeElements>
    <a:clrScheme name="134TGp_report_diagram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