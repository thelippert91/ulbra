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715000" cx="9144000"/>
  <p:notesSz cx="709930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710140" y="767575"/>
            <a:ext cx="56796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/>
          <p:nvPr>
            <p:ph idx="2" type="sldImg"/>
          </p:nvPr>
        </p:nvSpPr>
        <p:spPr>
          <a:xfrm>
            <a:off x="710140" y="767575"/>
            <a:ext cx="56796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701239216c_1_0:notes"/>
          <p:cNvSpPr/>
          <p:nvPr>
            <p:ph idx="2" type="sldImg"/>
          </p:nvPr>
        </p:nvSpPr>
        <p:spPr>
          <a:xfrm>
            <a:off x="710140" y="767575"/>
            <a:ext cx="56796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701239216c_1_0:notes"/>
          <p:cNvSpPr txBox="1"/>
          <p:nvPr>
            <p:ph idx="1" type="body"/>
          </p:nvPr>
        </p:nvSpPr>
        <p:spPr>
          <a:xfrm>
            <a:off x="709925" y="4861425"/>
            <a:ext cx="5679300" cy="46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:notes"/>
          <p:cNvSpPr/>
          <p:nvPr>
            <p:ph idx="2" type="sldImg"/>
          </p:nvPr>
        </p:nvSpPr>
        <p:spPr>
          <a:xfrm>
            <a:off x="710140" y="767575"/>
            <a:ext cx="56796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701239216c_1_12:notes"/>
          <p:cNvSpPr txBox="1"/>
          <p:nvPr>
            <p:ph idx="1" type="body"/>
          </p:nvPr>
        </p:nvSpPr>
        <p:spPr>
          <a:xfrm>
            <a:off x="709925" y="4861425"/>
            <a:ext cx="5679300" cy="46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701239216c_1_12:notes"/>
          <p:cNvSpPr/>
          <p:nvPr>
            <p:ph idx="2" type="sldImg"/>
          </p:nvPr>
        </p:nvSpPr>
        <p:spPr>
          <a:xfrm>
            <a:off x="710140" y="767575"/>
            <a:ext cx="56796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:notes"/>
          <p:cNvSpPr/>
          <p:nvPr>
            <p:ph idx="2" type="sldImg"/>
          </p:nvPr>
        </p:nvSpPr>
        <p:spPr>
          <a:xfrm>
            <a:off x="710140" y="767575"/>
            <a:ext cx="56796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:notes"/>
          <p:cNvSpPr/>
          <p:nvPr>
            <p:ph idx="2" type="sldImg"/>
          </p:nvPr>
        </p:nvSpPr>
        <p:spPr>
          <a:xfrm>
            <a:off x="710140" y="767575"/>
            <a:ext cx="56796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:notes"/>
          <p:cNvSpPr/>
          <p:nvPr>
            <p:ph idx="2" type="sldImg"/>
          </p:nvPr>
        </p:nvSpPr>
        <p:spPr>
          <a:xfrm>
            <a:off x="710140" y="767575"/>
            <a:ext cx="56796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710140" y="767575"/>
            <a:ext cx="56796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:notes"/>
          <p:cNvSpPr/>
          <p:nvPr>
            <p:ph idx="2" type="sldImg"/>
          </p:nvPr>
        </p:nvSpPr>
        <p:spPr>
          <a:xfrm>
            <a:off x="710140" y="767575"/>
            <a:ext cx="56796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e945cb1f88_0_0:notes"/>
          <p:cNvSpPr/>
          <p:nvPr>
            <p:ph idx="2" type="sldImg"/>
          </p:nvPr>
        </p:nvSpPr>
        <p:spPr>
          <a:xfrm>
            <a:off x="710140" y="767575"/>
            <a:ext cx="56796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e945cb1f88_0_0:notes"/>
          <p:cNvSpPr txBox="1"/>
          <p:nvPr>
            <p:ph idx="1" type="body"/>
          </p:nvPr>
        </p:nvSpPr>
        <p:spPr>
          <a:xfrm>
            <a:off x="709925" y="4861425"/>
            <a:ext cx="5679300" cy="46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701b414878_0_14:notes"/>
          <p:cNvSpPr/>
          <p:nvPr>
            <p:ph idx="2" type="sldImg"/>
          </p:nvPr>
        </p:nvSpPr>
        <p:spPr>
          <a:xfrm>
            <a:off x="710140" y="767575"/>
            <a:ext cx="56796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701b414878_0_14:notes"/>
          <p:cNvSpPr txBox="1"/>
          <p:nvPr>
            <p:ph idx="1" type="body"/>
          </p:nvPr>
        </p:nvSpPr>
        <p:spPr>
          <a:xfrm>
            <a:off x="709925" y="4861425"/>
            <a:ext cx="5679300" cy="46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/>
          <p:nvPr>
            <p:ph idx="2" type="sldImg"/>
          </p:nvPr>
        </p:nvSpPr>
        <p:spPr>
          <a:xfrm>
            <a:off x="710140" y="767575"/>
            <a:ext cx="56796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:notes"/>
          <p:cNvSpPr/>
          <p:nvPr>
            <p:ph idx="2" type="sldImg"/>
          </p:nvPr>
        </p:nvSpPr>
        <p:spPr>
          <a:xfrm>
            <a:off x="710140" y="767575"/>
            <a:ext cx="56796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:notes"/>
          <p:cNvSpPr/>
          <p:nvPr>
            <p:ph idx="2" type="sldImg"/>
          </p:nvPr>
        </p:nvSpPr>
        <p:spPr>
          <a:xfrm>
            <a:off x="710140" y="767575"/>
            <a:ext cx="56796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701b414878_0_9:notes"/>
          <p:cNvSpPr/>
          <p:nvPr>
            <p:ph idx="2" type="sldImg"/>
          </p:nvPr>
        </p:nvSpPr>
        <p:spPr>
          <a:xfrm>
            <a:off x="710140" y="767575"/>
            <a:ext cx="56796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701b414878_0_9:notes"/>
          <p:cNvSpPr txBox="1"/>
          <p:nvPr>
            <p:ph idx="1" type="body"/>
          </p:nvPr>
        </p:nvSpPr>
        <p:spPr>
          <a:xfrm>
            <a:off x="709925" y="4861425"/>
            <a:ext cx="5679300" cy="46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457200" y="228000"/>
            <a:ext cx="8229000" cy="9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" name="Google Shape;10;p2"/>
          <p:cNvSpPr txBox="1"/>
          <p:nvPr>
            <p:ph idx="1" type="body"/>
          </p:nvPr>
        </p:nvSpPr>
        <p:spPr>
          <a:xfrm>
            <a:off x="457200" y="1337100"/>
            <a:ext cx="8229300" cy="3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 txBox="1"/>
          <p:nvPr>
            <p:ph type="title"/>
          </p:nvPr>
        </p:nvSpPr>
        <p:spPr>
          <a:xfrm>
            <a:off x="457200" y="228000"/>
            <a:ext cx="8229000" cy="9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"/>
          <p:cNvSpPr txBox="1"/>
          <p:nvPr>
            <p:ph idx="1" type="subTitle"/>
          </p:nvPr>
        </p:nvSpPr>
        <p:spPr>
          <a:xfrm>
            <a:off x="457200" y="1337100"/>
            <a:ext cx="8229300" cy="3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title"/>
          </p:nvPr>
        </p:nvSpPr>
        <p:spPr>
          <a:xfrm>
            <a:off x="457200" y="228000"/>
            <a:ext cx="8229000" cy="9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body"/>
          </p:nvPr>
        </p:nvSpPr>
        <p:spPr>
          <a:xfrm>
            <a:off x="457200" y="1337100"/>
            <a:ext cx="4015800" cy="3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2" type="body"/>
          </p:nvPr>
        </p:nvSpPr>
        <p:spPr>
          <a:xfrm>
            <a:off x="4674240" y="1337100"/>
            <a:ext cx="4015800" cy="3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/>
          <p:nvPr>
            <p:ph type="title"/>
          </p:nvPr>
        </p:nvSpPr>
        <p:spPr>
          <a:xfrm>
            <a:off x="457200" y="228000"/>
            <a:ext cx="8229000" cy="9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/>
          <p:nvPr>
            <p:ph idx="1" type="subTitle"/>
          </p:nvPr>
        </p:nvSpPr>
        <p:spPr>
          <a:xfrm>
            <a:off x="457200" y="228000"/>
            <a:ext cx="8229000" cy="44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type="title"/>
          </p:nvPr>
        </p:nvSpPr>
        <p:spPr>
          <a:xfrm>
            <a:off x="457200" y="228000"/>
            <a:ext cx="8229000" cy="9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457200" y="1337100"/>
            <a:ext cx="4015800" cy="15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2" type="body"/>
          </p:nvPr>
        </p:nvSpPr>
        <p:spPr>
          <a:xfrm>
            <a:off x="457200" y="3068400"/>
            <a:ext cx="4015800" cy="15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3" type="body"/>
          </p:nvPr>
        </p:nvSpPr>
        <p:spPr>
          <a:xfrm>
            <a:off x="4674240" y="1337100"/>
            <a:ext cx="4015800" cy="3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/>
          <p:nvPr>
            <p:ph type="title"/>
          </p:nvPr>
        </p:nvSpPr>
        <p:spPr>
          <a:xfrm>
            <a:off x="457200" y="228000"/>
            <a:ext cx="8229000" cy="9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" type="body"/>
          </p:nvPr>
        </p:nvSpPr>
        <p:spPr>
          <a:xfrm>
            <a:off x="457200" y="1337100"/>
            <a:ext cx="4015800" cy="3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2" type="body"/>
          </p:nvPr>
        </p:nvSpPr>
        <p:spPr>
          <a:xfrm>
            <a:off x="4674240" y="1337100"/>
            <a:ext cx="4015800" cy="15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3" type="body"/>
          </p:nvPr>
        </p:nvSpPr>
        <p:spPr>
          <a:xfrm>
            <a:off x="4674240" y="3068400"/>
            <a:ext cx="4015800" cy="15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457200" y="228000"/>
            <a:ext cx="8229000" cy="9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457200" y="1337100"/>
            <a:ext cx="4015800" cy="15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2" type="body"/>
          </p:nvPr>
        </p:nvSpPr>
        <p:spPr>
          <a:xfrm>
            <a:off x="4674240" y="1337100"/>
            <a:ext cx="4015800" cy="15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3" type="body"/>
          </p:nvPr>
        </p:nvSpPr>
        <p:spPr>
          <a:xfrm>
            <a:off x="457200" y="3068400"/>
            <a:ext cx="8229300" cy="15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type="title"/>
          </p:nvPr>
        </p:nvSpPr>
        <p:spPr>
          <a:xfrm>
            <a:off x="457200" y="228000"/>
            <a:ext cx="8229000" cy="9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" type="body"/>
          </p:nvPr>
        </p:nvSpPr>
        <p:spPr>
          <a:xfrm>
            <a:off x="457200" y="1337100"/>
            <a:ext cx="8229300" cy="15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2" type="body"/>
          </p:nvPr>
        </p:nvSpPr>
        <p:spPr>
          <a:xfrm>
            <a:off x="457200" y="3068400"/>
            <a:ext cx="8229300" cy="15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2"/>
          <p:cNvSpPr txBox="1"/>
          <p:nvPr>
            <p:ph type="title"/>
          </p:nvPr>
        </p:nvSpPr>
        <p:spPr>
          <a:xfrm>
            <a:off x="457200" y="228000"/>
            <a:ext cx="8229000" cy="9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" type="body"/>
          </p:nvPr>
        </p:nvSpPr>
        <p:spPr>
          <a:xfrm>
            <a:off x="457200" y="1337100"/>
            <a:ext cx="4015800" cy="15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2" type="body"/>
          </p:nvPr>
        </p:nvSpPr>
        <p:spPr>
          <a:xfrm>
            <a:off x="4674240" y="1337100"/>
            <a:ext cx="4015800" cy="15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3" type="body"/>
          </p:nvPr>
        </p:nvSpPr>
        <p:spPr>
          <a:xfrm>
            <a:off x="4674240" y="3068400"/>
            <a:ext cx="4015800" cy="15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4" type="body"/>
          </p:nvPr>
        </p:nvSpPr>
        <p:spPr>
          <a:xfrm>
            <a:off x="457200" y="3068400"/>
            <a:ext cx="4015800" cy="15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type="title"/>
          </p:nvPr>
        </p:nvSpPr>
        <p:spPr>
          <a:xfrm>
            <a:off x="457200" y="228000"/>
            <a:ext cx="8229000" cy="9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457200" y="1337100"/>
            <a:ext cx="2649600" cy="15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2" type="body"/>
          </p:nvPr>
        </p:nvSpPr>
        <p:spPr>
          <a:xfrm>
            <a:off x="3239640" y="1337100"/>
            <a:ext cx="2649600" cy="15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3" type="body"/>
          </p:nvPr>
        </p:nvSpPr>
        <p:spPr>
          <a:xfrm>
            <a:off x="6022080" y="1337100"/>
            <a:ext cx="2649600" cy="15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4" type="body"/>
          </p:nvPr>
        </p:nvSpPr>
        <p:spPr>
          <a:xfrm>
            <a:off x="6022080" y="3068400"/>
            <a:ext cx="2649600" cy="15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5" type="body"/>
          </p:nvPr>
        </p:nvSpPr>
        <p:spPr>
          <a:xfrm>
            <a:off x="3239640" y="3068400"/>
            <a:ext cx="2649600" cy="15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6" type="body"/>
          </p:nvPr>
        </p:nvSpPr>
        <p:spPr>
          <a:xfrm>
            <a:off x="457200" y="3068400"/>
            <a:ext cx="2649600" cy="15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28000"/>
            <a:ext cx="8229000" cy="9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337100"/>
            <a:ext cx="8229300" cy="3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pt.wikipedia.org/wiki/PHP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www.servidor.com.br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7" Type="http://schemas.openxmlformats.org/officeDocument/2006/relationships/hyperlink" Target="https://www.mamp.info/en/" TargetMode="External"/><Relationship Id="rId8" Type="http://schemas.openxmlformats.org/officeDocument/2006/relationships/hyperlink" Target="http://www.wampserver.com/en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localhost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w3schools.com/ph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685800" y="1165800"/>
            <a:ext cx="7771800" cy="12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pt-BR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rogramação WEB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1371600" y="2628900"/>
            <a:ext cx="6400200" cy="14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3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Prof. Vinícius Silveira Magnus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Iniciando com o PHP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2575" y="3956576"/>
            <a:ext cx="3115224" cy="1682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457200" y="228000"/>
            <a:ext cx="8229000" cy="9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457200" y="1337100"/>
            <a:ext cx="8229300" cy="33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 b="0" l="4562" r="4553" t="0"/>
          <a:stretch/>
        </p:blipFill>
        <p:spPr>
          <a:xfrm>
            <a:off x="0" y="-9000"/>
            <a:ext cx="9144000" cy="5715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/>
        </p:nvSpPr>
        <p:spPr>
          <a:xfrm>
            <a:off x="457200" y="228000"/>
            <a:ext cx="8229000" cy="9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PHP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457200" y="1337100"/>
            <a:ext cx="8229300" cy="3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999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pt-B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PHP (um acrônimo recursivo para “PHP: Hypertext Preprocessor”, originalmente Personal Home Page) é uma linguagem interpretada livre e utilizada para gerar conteúdo dinâmico para web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pt-B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Características: </a:t>
            </a:r>
            <a:br>
              <a:rPr b="0" i="0" lang="pt-BR" sz="1800" u="none" cap="none" strike="noStrike"/>
            </a:br>
            <a:r>
              <a:rPr b="0" i="0" lang="pt-BR" sz="32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https://pt.wikipedia.org/wiki/PHP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2559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2559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/>
        </p:nvSpPr>
        <p:spPr>
          <a:xfrm>
            <a:off x="457200" y="228000"/>
            <a:ext cx="8229000" cy="9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PHP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457200" y="1337100"/>
            <a:ext cx="4131600" cy="3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rPr lang="pt-BR" sz="2200"/>
              <a:t>Interpretada (script).</a:t>
            </a:r>
            <a:endParaRPr sz="2200"/>
          </a:p>
          <a:p>
            <a:pPr indent="0" lvl="0" marL="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rPr lang="pt-BR" sz="2200"/>
              <a:t>Velocidade e robustez.</a:t>
            </a:r>
            <a:endParaRPr sz="2200"/>
          </a:p>
          <a:p>
            <a:pPr indent="0" lvl="0" marL="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rPr lang="pt-BR" sz="2200"/>
              <a:t>Orientação a objetos.</a:t>
            </a:r>
            <a:endParaRPr sz="2200"/>
          </a:p>
          <a:p>
            <a:pPr indent="0" lvl="0" marL="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rPr lang="pt-BR" sz="2200"/>
              <a:t>Portabilidade - independência de plataforma - escreva uma vez, rode em qualquer lugar.</a:t>
            </a:r>
            <a:endParaRPr sz="2200"/>
          </a:p>
          <a:p>
            <a:pPr indent="-232559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t/>
            </a:r>
            <a:endParaRPr sz="2200"/>
          </a:p>
        </p:txBody>
      </p:sp>
      <p:sp>
        <p:nvSpPr>
          <p:cNvPr id="82" name="Google Shape;82;p17"/>
          <p:cNvSpPr txBox="1"/>
          <p:nvPr/>
        </p:nvSpPr>
        <p:spPr>
          <a:xfrm>
            <a:off x="4767050" y="1301150"/>
            <a:ext cx="4131600" cy="3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rPr lang="pt-BR" sz="2200"/>
              <a:t>Tipagem dinâmica.</a:t>
            </a:r>
            <a:endParaRPr sz="2200"/>
          </a:p>
          <a:p>
            <a:pPr indent="0" lvl="0" marL="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rPr lang="pt-BR" sz="2200"/>
              <a:t>Sintaxe similar a C/C++ e o Perl.</a:t>
            </a:r>
            <a:endParaRPr sz="2200"/>
          </a:p>
          <a:p>
            <a:pPr indent="0" lvl="0" marL="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rPr lang="pt-BR" sz="2200"/>
              <a:t>Open-source.</a:t>
            </a:r>
            <a:endParaRPr sz="2200"/>
          </a:p>
          <a:p>
            <a:pPr indent="0" lvl="0" marL="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rPr lang="pt-BR" sz="2200"/>
              <a:t>Server-side (O cliente manda o pedido e o servidor responde em página HTML)</a:t>
            </a:r>
            <a:endParaRPr sz="2200"/>
          </a:p>
          <a:p>
            <a:pPr indent="-232559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/>
        </p:nvSpPr>
        <p:spPr>
          <a:xfrm>
            <a:off x="457200" y="228000"/>
            <a:ext cx="8229000" cy="9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8"/>
          <p:cNvSpPr txBox="1"/>
          <p:nvPr/>
        </p:nvSpPr>
        <p:spPr>
          <a:xfrm>
            <a:off x="457200" y="1337100"/>
            <a:ext cx="8229300" cy="3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pt-B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Usamos o protocolo HTTP para servir páginas na Web. É por isso que todo endereço na Web começa com http://. Quando acessamos um endereço desses na Internet, falamos que estamos fazendo uma requisição ao servidor. Ou seja, pedimos que certo conteúdo seja exibido.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/>
        </p:nvSpPr>
        <p:spPr>
          <a:xfrm>
            <a:off x="457200" y="228000"/>
            <a:ext cx="8229000" cy="9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Requisições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9"/>
          <p:cNvSpPr txBox="1"/>
          <p:nvPr/>
        </p:nvSpPr>
        <p:spPr>
          <a:xfrm>
            <a:off x="457200" y="1337100"/>
            <a:ext cx="8229300" cy="3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pt-B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Endereço de servidor (porta 80)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pt-BR" sz="2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http://www.servidor.com.br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pt-B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Caminho do conteúdo (diretório e arquivo) a partir da raiz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pt-B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/site/noticias.php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pt-B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Rotas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pt-B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index.php/clientes/alterar/1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/>
        </p:nvSpPr>
        <p:spPr>
          <a:xfrm>
            <a:off x="457200" y="228000"/>
            <a:ext cx="8229000" cy="9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Respondendo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0"/>
          <p:cNvSpPr txBox="1"/>
          <p:nvPr/>
        </p:nvSpPr>
        <p:spPr>
          <a:xfrm>
            <a:off x="457200" y="1337100"/>
            <a:ext cx="8229300" cy="3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6264" y="3335125"/>
            <a:ext cx="5238137" cy="224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4000" y="1055125"/>
            <a:ext cx="6349774" cy="224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/>
          <p:nvPr/>
        </p:nvSpPr>
        <p:spPr>
          <a:xfrm>
            <a:off x="3468100" y="2388225"/>
            <a:ext cx="1152000" cy="488100"/>
          </a:xfrm>
          <a:prstGeom prst="rect">
            <a:avLst/>
          </a:pr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0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br>
              <a:rPr lang="pt-BR" sz="1800">
                <a:latin typeface="Arial"/>
                <a:ea typeface="Arial"/>
                <a:cs typeface="Arial"/>
                <a:sym typeface="Arial"/>
              </a:rPr>
            </a:br>
            <a:r>
              <a:rPr b="0" lang="pt-BR" sz="10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br>
              <a:rPr lang="pt-BR" sz="1800">
                <a:latin typeface="Arial"/>
                <a:ea typeface="Arial"/>
                <a:cs typeface="Arial"/>
                <a:sym typeface="Arial"/>
              </a:rPr>
            </a:br>
            <a:r>
              <a:rPr b="0" lang="pt-BR" sz="10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JS</a:t>
            </a:r>
            <a:endParaRPr b="0" sz="10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8975" y="3910025"/>
            <a:ext cx="1385325" cy="1380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97575" y="3854750"/>
            <a:ext cx="1385326" cy="138532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0"/>
          <p:cNvSpPr txBox="1"/>
          <p:nvPr/>
        </p:nvSpPr>
        <p:spPr>
          <a:xfrm>
            <a:off x="7274400" y="5290375"/>
            <a:ext cx="18696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u="sng">
                <a:solidFill>
                  <a:schemeClr val="hlink"/>
                </a:solidFill>
                <a:hlinkClick r:id="rId7"/>
              </a:rPr>
              <a:t>https://www.mamp.info/en/</a:t>
            </a:r>
            <a:endParaRPr/>
          </a:p>
        </p:txBody>
      </p:sp>
      <p:sp>
        <p:nvSpPr>
          <p:cNvPr id="107" name="Google Shape;107;p20"/>
          <p:cNvSpPr txBox="1"/>
          <p:nvPr/>
        </p:nvSpPr>
        <p:spPr>
          <a:xfrm>
            <a:off x="0" y="5354700"/>
            <a:ext cx="22287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u="sng">
                <a:solidFill>
                  <a:schemeClr val="hlink"/>
                </a:solidFill>
                <a:hlinkClick r:id="rId8"/>
              </a:rPr>
              <a:t>http://www.wampserver.com/en/</a:t>
            </a:r>
            <a:endParaRPr/>
          </a:p>
        </p:txBody>
      </p:sp>
      <p:sp>
        <p:nvSpPr>
          <p:cNvPr id="108" name="Google Shape;108;p20"/>
          <p:cNvSpPr txBox="1"/>
          <p:nvPr/>
        </p:nvSpPr>
        <p:spPr>
          <a:xfrm>
            <a:off x="2516175" y="5290225"/>
            <a:ext cx="45111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sudo apt-get install lamp-server^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/>
        </p:nvSpPr>
        <p:spPr>
          <a:xfrm>
            <a:off x="457200" y="228000"/>
            <a:ext cx="8229000" cy="9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1"/>
          <p:cNvSpPr txBox="1"/>
          <p:nvPr/>
        </p:nvSpPr>
        <p:spPr>
          <a:xfrm>
            <a:off x="457200" y="1337100"/>
            <a:ext cx="8229300" cy="3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p21"/>
          <p:cNvPicPr preferRelativeResize="0"/>
          <p:nvPr/>
        </p:nvPicPr>
        <p:blipFill rotWithShape="1">
          <a:blip r:embed="rId3">
            <a:alphaModFix/>
          </a:blip>
          <a:srcRect b="18169" l="2439" r="1526" t="1824"/>
          <a:stretch/>
        </p:blipFill>
        <p:spPr>
          <a:xfrm>
            <a:off x="242700" y="1103025"/>
            <a:ext cx="8658600" cy="360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/>
        </p:nvSpPr>
        <p:spPr>
          <a:xfrm>
            <a:off x="457200" y="228000"/>
            <a:ext cx="8229000" cy="9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Vamos ver na prática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2"/>
          <p:cNvSpPr txBox="1"/>
          <p:nvPr/>
        </p:nvSpPr>
        <p:spPr>
          <a:xfrm>
            <a:off x="457200" y="1337100"/>
            <a:ext cx="8229300" cy="3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I</a:t>
            </a:r>
            <a:r>
              <a:rPr b="0" lang="pt-BR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nstalar na </a:t>
            </a:r>
            <a:r>
              <a:rPr lang="pt-BR" sz="3200"/>
              <a:t>máquina</a:t>
            </a:r>
            <a:r>
              <a:rPr b="0" lang="pt-BR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pilha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pt-B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Apache, PHP, MySql;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lang="pt-BR" sz="2800"/>
              <a:t>Pode ser usado</a:t>
            </a:r>
            <a:r>
              <a:rPr b="0" i="0" lang="pt-B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Lamp-server^</a:t>
            </a:r>
            <a:r>
              <a:rPr b="0" i="0" lang="pt-B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linux</a:t>
            </a:r>
            <a:r>
              <a:rPr lang="pt-BR" sz="2800"/>
              <a:t>,</a:t>
            </a:r>
            <a:r>
              <a:rPr b="0" i="0" lang="pt-B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Wamp Server</a:t>
            </a:r>
            <a:r>
              <a:rPr b="0" i="0" lang="pt-B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Windows</a:t>
            </a:r>
            <a:r>
              <a:rPr lang="pt-BR" sz="2800"/>
              <a:t> e </a:t>
            </a:r>
            <a:r>
              <a:rPr b="1" lang="pt-BR" sz="2800"/>
              <a:t>Xamp</a:t>
            </a:r>
            <a:r>
              <a:rPr lang="pt-BR" sz="2800"/>
              <a:t> para MacOs.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99" lvl="2" marL="12960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lang="pt-BR" sz="2400"/>
              <a:t>Foi instalado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juntamente o PhpMydamin.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999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u="sng">
                <a:solidFill>
                  <a:schemeClr val="hlink"/>
                </a:solidFill>
                <a:hlinkClick r:id="rId3"/>
              </a:rPr>
              <a:t>http://localhost</a:t>
            </a:r>
            <a:endParaRPr sz="3200"/>
          </a:p>
          <a:p>
            <a:pPr indent="0" lvl="0" marL="0" marR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-232559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t/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457200" y="228000"/>
            <a:ext cx="8229000" cy="9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457200" y="1337100"/>
            <a:ext cx="8229300" cy="33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750" y="900100"/>
            <a:ext cx="4762500" cy="406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457200" y="228000"/>
            <a:ext cx="8229000" cy="9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Raiz do servidor web </a:t>
            </a:r>
            <a:endParaRPr/>
          </a:p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457200" y="1337100"/>
            <a:ext cx="8229300" cy="33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/var/www/ ou </a:t>
            </a:r>
            <a:r>
              <a:rPr lang="pt-BR">
                <a:solidFill>
                  <a:schemeClr val="dk1"/>
                </a:solidFill>
              </a:rPr>
              <a:t>/var/www/html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9925" y="1408050"/>
            <a:ext cx="2898900" cy="289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/>
        </p:nvSpPr>
        <p:spPr>
          <a:xfrm>
            <a:off x="457200" y="228000"/>
            <a:ext cx="8229000" cy="9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Interpretação server PHP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5"/>
          <p:cNvSpPr txBox="1"/>
          <p:nvPr/>
        </p:nvSpPr>
        <p:spPr>
          <a:xfrm>
            <a:off x="457200" y="1337100"/>
            <a:ext cx="8229300" cy="3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999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pt-BR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Extensão .php</a:t>
            </a:r>
            <a:r>
              <a:rPr lang="pt-BR" sz="3200"/>
              <a:t> (</a:t>
            </a:r>
            <a:r>
              <a:rPr lang="pt-BR" sz="3200"/>
              <a:t>Conteúdo +</a:t>
            </a:r>
            <a:r>
              <a:rPr b="0" lang="pt-BR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PHP)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&lt;!DOCTYPE html&gt;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&lt;html&gt;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&lt;body&gt;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32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&lt;?php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32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echo "My first PHP script!";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32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?&gt;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&lt;/body&gt;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&lt;/html&gt; 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/>
        </p:nvSpPr>
        <p:spPr>
          <a:xfrm>
            <a:off x="457200" y="228000"/>
            <a:ext cx="8229000" cy="9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Modular conteúdo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457200" y="1337100"/>
            <a:ext cx="8229300" cy="3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pt-BR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podemos alterar conteúdos dentro de uma mesma página php.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pt-BR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Utilizando parâmetros de url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pt-B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/site/index.php?pagina=noticia&amp;noticia=1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pt-BR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Rotas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pt-B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index.php/clientes/alterar/1 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/>
        </p:nvSpPr>
        <p:spPr>
          <a:xfrm>
            <a:off x="648000" y="361800"/>
            <a:ext cx="2854800" cy="15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Arquitetura MVC e PHP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7"/>
          <p:cNvSpPr txBox="1"/>
          <p:nvPr/>
        </p:nvSpPr>
        <p:spPr>
          <a:xfrm>
            <a:off x="457200" y="1337100"/>
            <a:ext cx="8229300" cy="3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36000" y="156000"/>
            <a:ext cx="3587400" cy="30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7"/>
          <p:cNvPicPr preferRelativeResize="0"/>
          <p:nvPr/>
        </p:nvPicPr>
        <p:blipFill rotWithShape="1">
          <a:blip r:embed="rId4">
            <a:alphaModFix/>
          </a:blip>
          <a:srcRect b="5305" l="0" r="0" t="14665"/>
          <a:stretch/>
        </p:blipFill>
        <p:spPr>
          <a:xfrm>
            <a:off x="216000" y="3240000"/>
            <a:ext cx="6076440" cy="22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457200" y="228000"/>
            <a:ext cx="8229000" cy="9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161" name="Google Shape;161;p28"/>
          <p:cNvSpPr txBox="1"/>
          <p:nvPr>
            <p:ph idx="1" type="body"/>
          </p:nvPr>
        </p:nvSpPr>
        <p:spPr>
          <a:xfrm>
            <a:off x="457200" y="1337100"/>
            <a:ext cx="8229300" cy="33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https://www.w3schools.com/php/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